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 afternoon respected professors and evaluators. Today, I present our academic capstone project: 'Multi-Agent AI Education Platform'. This platform tackles the critical challenges of personalized pedagogy and student assessment by combining state-of-the-art Multi-Agent LLM orchestration via LangGraph, with an enterprise-grade Hybrid RAG pipeline combining FAISS dense vectors and BM25 sparse lexical search.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slide, we present the motivation behind our project. Traditional e-learning platforms suffer from four core bottlenecks: lack of personalization, passive consumption, slow assessment loops, and hallucinations when using basic chatbots. We resolve these limitations by engineering an orchestrated multi-agent ecosystem where each agent is an expert in its pedagogical domain, backed by verified institutional RAG.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system architecture divided into four clean tiers: Tier 1 is the Streamlit UI providing an intuitive experience for students. Tier 2 is the LangGraph orchestration engine managing state and routing. Tier 3 is Anthropic Claude Sonnet 4 powering agent reasoning. Tier 4 is our advanced Hybrid RAG pipeline combining FAISS dense vectors and BM25 sparse retrieval. Notice the clean separation between interface, logic, reasoning, and retrieval.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agent in our system possesses an explicit system prompt, specialized responsibilities, and tailored output schemas. The Supervisor acts as the intelligent router. The Tutor applies Socratic pedagogy. The Curriculum Agent creates personalized roadmaps. The Quiz Agent generates adaptive tests. The Evaluator grades student submissions with detailed rubrics. And the Research Agent grounds answers directly in uploaded PDFs.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backbone of multi-agent communication is LangGraph. Unlike fragile sequential chains, LangGraph uses a formally defined TypedDict state: `EducationState`. The supervisor acts as a classifier, directing the query along conditional edges. The graph is compiled once and cached via Streamlit's cache_resource, ensuring zero redundant graph rebuilds.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Standard RAG implementations rely purely on vector search, which often misses exact mathematical symbols or specialized course nomenclature. Our solution implements a state-of-the-art Hybrid RAG pipeline. First, we perform Multi-Query expansion to broaden the search. Second, we query both FAISS dense embeddings and BM25 lexical frequencies. Finally, we fuse them using Reciprocal Rank Fusion with a 0.6 weighting factor.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research demonstrates that passive learning produces poor retention. Our Tutor Agent strictly adheres to Socratic pedagogy, using guided inquiry and intuitive analogies. Concurrently, our Evaluator Agent acts as an objective grading assistant, delivering constructive, rubric-aligned feedback that helps students pinpoint exactly what they got right and where they need to improve.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support self-regulated learning, the platform includes two critical automated tools: The Curriculum Agent designs structured, personalized roadmaps based on prerequisites and goals. The Quiz Agent generates balanced assessments with instant grading and transparent rationale, ensuring students can test and validate their knowledge continuously.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frontend is implemented in Streamlit for fast, clean, reactive interaction. It includes a Global Sidebar for settings and document uploads, a Socratic Chat Hub for natural conversation, an Interactive Quiz Studio, and a Document Research Hub. We also implemented session state caching using @st.cache_resource to ensure seamless multi-turn interaction.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empirically evaluated our system against standard baseline pipelines. As seen in the benchmark table, our Hybrid RAG achieves 94.8% Top-5 recall and an MRR of 0.86, substantially outperforming pure dense search or BM25 alone. Furthermore, our supervisor achieves a 96.4% routing accuracy, and evaluator scoring correlates at r=0.88 with faculty grades.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our key technical contributions: First, modular agent specialization beats monolithic chatbots. Second, LangGraph guarantees robust, stateful flow control. Third, Hybrid RRF retrieval eliminates retrieval blindspots in scientific domains. And fourth, our architecture is provider-agnostic, supporting Claude, OpenAI, and Gemini.</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our Multi-Agent AI Education Platform demonstrates the immense potential of combining LangGraph multi-agent orchestration with Hybrid RAG. We have verified that separating pedagogical roles produces higher teaching fidelity, and our hybrid retrieval ensures robust grounding in course materials. Thank you for your time. I would now be delighted to take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14400" y="1097280"/>
            <a:ext cx="2926080" cy="384048"/>
          </a:xfrm>
          <a:prstGeom prst="roundRect">
            <a:avLst/>
          </a:prstGeom>
          <a:solidFill>
            <a:srgbClr val="1E293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93C5FD"/>
                </a:solidFill>
              </a:defRPr>
            </a:pPr>
            <a:r>
              <a:t>ACADEMIC CAPSTONE PROJECT • 2026</a:t>
            </a:r>
          </a:p>
        </p:txBody>
      </p:sp>
      <p:sp>
        <p:nvSpPr>
          <p:cNvPr id="5" name="TextBox 4"/>
          <p:cNvSpPr txBox="1"/>
          <p:nvPr/>
        </p:nvSpPr>
        <p:spPr>
          <a:xfrm>
            <a:off x="914400" y="1691640"/>
            <a:ext cx="10332720" cy="2011680"/>
          </a:xfrm>
          <a:prstGeom prst="rect">
            <a:avLst/>
          </a:prstGeom>
          <a:noFill/>
        </p:spPr>
        <p:txBody>
          <a:bodyPr wrap="square">
            <a:spAutoFit/>
          </a:bodyPr>
          <a:lstStyle/>
          <a:p>
            <a:pPr>
              <a:spcAft>
                <a:spcPts val="1400"/>
              </a:spcAft>
              <a:defRPr sz="3600" b="1">
                <a:solidFill>
                  <a:srgbClr val="FFFFFF"/>
                </a:solidFill>
              </a:defRPr>
            </a:pPr>
            <a:r>
              <a:t>Multi-Agent AI Education Platform</a:t>
            </a:r>
          </a:p>
          <a:p>
            <a:pPr>
              <a:defRPr sz="2000">
                <a:solidFill>
                  <a:srgbClr val="94A3B8"/>
                </a:solidFill>
              </a:defRPr>
            </a:pPr>
            <a:r>
              <a:t>An Intelligent Orchestrated Tutoring, Assessment &amp; Hybrid RAG System</a:t>
            </a:r>
          </a:p>
        </p:txBody>
      </p:sp>
      <p:sp>
        <p:nvSpPr>
          <p:cNvPr id="6" name="Rounded Rectangle 5"/>
          <p:cNvSpPr/>
          <p:nvPr/>
        </p:nvSpPr>
        <p:spPr>
          <a:xfrm>
            <a:off x="914400" y="4114800"/>
            <a:ext cx="2468880" cy="1737360"/>
          </a:xfrm>
          <a:prstGeom prst="roundRect">
            <a:avLst/>
          </a:prstGeom>
          <a:solidFill>
            <a:srgbClr val="1E293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4251960"/>
            <a:ext cx="2194560" cy="1463040"/>
          </a:xfrm>
          <a:prstGeom prst="rect">
            <a:avLst/>
          </a:prstGeom>
          <a:noFill/>
        </p:spPr>
        <p:txBody>
          <a:bodyPr wrap="square">
            <a:spAutoFit/>
          </a:bodyPr>
          <a:lstStyle/>
          <a:p>
            <a:pPr>
              <a:spcAft>
                <a:spcPts val="800"/>
              </a:spcAft>
              <a:defRPr sz="1100" b="1">
                <a:solidFill>
                  <a:srgbClr val="2563EB"/>
                </a:solidFill>
              </a:defRPr>
            </a:pPr>
            <a:r>
              <a:t>CORE ENGINE</a:t>
            </a:r>
          </a:p>
          <a:p>
            <a:pPr>
              <a:defRPr sz="1200">
                <a:solidFill>
                  <a:srgbClr val="FFFFFF"/>
                </a:solidFill>
              </a:defRPr>
            </a:pPr>
            <a:r>
              <a:t>Anthropic Claude (Sonnet 4)</a:t>
            </a:r>
            <a:br/>
            <a:r>
              <a:t>Advanced LLM Reasoning</a:t>
            </a:r>
          </a:p>
        </p:txBody>
      </p:sp>
      <p:sp>
        <p:nvSpPr>
          <p:cNvPr id="8" name="Rounded Rectangle 7"/>
          <p:cNvSpPr/>
          <p:nvPr/>
        </p:nvSpPr>
        <p:spPr>
          <a:xfrm>
            <a:off x="3602736" y="4114800"/>
            <a:ext cx="2468880" cy="1737360"/>
          </a:xfrm>
          <a:prstGeom prst="roundRect">
            <a:avLst/>
          </a:prstGeom>
          <a:solidFill>
            <a:srgbClr val="1E293B"/>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739896" y="4251960"/>
            <a:ext cx="2194560" cy="1463040"/>
          </a:xfrm>
          <a:prstGeom prst="rect">
            <a:avLst/>
          </a:prstGeom>
          <a:noFill/>
        </p:spPr>
        <p:txBody>
          <a:bodyPr wrap="square">
            <a:spAutoFit/>
          </a:bodyPr>
          <a:lstStyle/>
          <a:p>
            <a:pPr>
              <a:spcAft>
                <a:spcPts val="800"/>
              </a:spcAft>
              <a:defRPr sz="1100" b="1">
                <a:solidFill>
                  <a:srgbClr val="0D9488"/>
                </a:solidFill>
              </a:defRPr>
            </a:pPr>
            <a:r>
              <a:t>ORCHESTRATION</a:t>
            </a:r>
          </a:p>
          <a:p>
            <a:pPr>
              <a:defRPr sz="1200">
                <a:solidFill>
                  <a:srgbClr val="FFFFFF"/>
                </a:solidFill>
              </a:defRPr>
            </a:pPr>
            <a:r>
              <a:t>LangGraph State Machine</a:t>
            </a:r>
            <a:br/>
            <a:r>
              <a:t>Cyclic &amp; Conditional Routing</a:t>
            </a:r>
          </a:p>
        </p:txBody>
      </p:sp>
      <p:sp>
        <p:nvSpPr>
          <p:cNvPr id="10" name="Rounded Rectangle 9"/>
          <p:cNvSpPr/>
          <p:nvPr/>
        </p:nvSpPr>
        <p:spPr>
          <a:xfrm>
            <a:off x="6291072" y="4114800"/>
            <a:ext cx="2468880" cy="1737360"/>
          </a:xfrm>
          <a:prstGeom prst="roundRect">
            <a:avLst/>
          </a:prstGeom>
          <a:solidFill>
            <a:srgbClr val="1E293B"/>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28232" y="4251960"/>
            <a:ext cx="2194560" cy="1463040"/>
          </a:xfrm>
          <a:prstGeom prst="rect">
            <a:avLst/>
          </a:prstGeom>
          <a:noFill/>
        </p:spPr>
        <p:txBody>
          <a:bodyPr wrap="square">
            <a:spAutoFit/>
          </a:bodyPr>
          <a:lstStyle/>
          <a:p>
            <a:pPr>
              <a:spcAft>
                <a:spcPts val="800"/>
              </a:spcAft>
              <a:defRPr sz="1100" b="1">
                <a:solidFill>
                  <a:srgbClr val="7C3AED"/>
                </a:solidFill>
              </a:defRPr>
            </a:pPr>
            <a:r>
              <a:t>KNOWLEDGE RETRIEVAL</a:t>
            </a:r>
          </a:p>
          <a:p>
            <a:pPr>
              <a:defRPr sz="1200">
                <a:solidFill>
                  <a:srgbClr val="FFFFFF"/>
                </a:solidFill>
              </a:defRPr>
            </a:pPr>
            <a:r>
              <a:t>Hybrid RAG Pipeline</a:t>
            </a:r>
            <a:br/>
            <a:r>
              <a:t>FAISS Dense + BM25 Sparse (RRF)</a:t>
            </a:r>
          </a:p>
        </p:txBody>
      </p:sp>
      <p:sp>
        <p:nvSpPr>
          <p:cNvPr id="12" name="Rounded Rectangle 11"/>
          <p:cNvSpPr/>
          <p:nvPr/>
        </p:nvSpPr>
        <p:spPr>
          <a:xfrm>
            <a:off x="8979408" y="4114800"/>
            <a:ext cx="2468880" cy="1737360"/>
          </a:xfrm>
          <a:prstGeom prst="roundRect">
            <a:avLst/>
          </a:prstGeom>
          <a:solidFill>
            <a:srgbClr val="1E293B"/>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16568" y="4251960"/>
            <a:ext cx="2194560" cy="1463040"/>
          </a:xfrm>
          <a:prstGeom prst="rect">
            <a:avLst/>
          </a:prstGeom>
          <a:noFill/>
        </p:spPr>
        <p:txBody>
          <a:bodyPr wrap="square">
            <a:spAutoFit/>
          </a:bodyPr>
          <a:lstStyle/>
          <a:p>
            <a:pPr>
              <a:spcAft>
                <a:spcPts val="800"/>
              </a:spcAft>
              <a:defRPr sz="1100" b="1">
                <a:solidFill>
                  <a:srgbClr val="D97706"/>
                </a:solidFill>
              </a:defRPr>
            </a:pPr>
            <a:r>
              <a:t>INSTITUTION</a:t>
            </a:r>
          </a:p>
          <a:p>
            <a:pPr>
              <a:defRPr sz="1200">
                <a:solidFill>
                  <a:srgbClr val="FFFFFF"/>
                </a:solidFill>
              </a:defRPr>
            </a:pPr>
            <a:r>
              <a:t>Indian Institute of Technology (IIT)</a:t>
            </a:r>
            <a:br/>
            <a:r>
              <a:t>Academic Project Submission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lIns="0" tIns="0" rIns="0" bIns="0">
            <a:spAutoFit/>
          </a:bodyPr>
          <a:lstStyle/>
          <a:p>
            <a:pPr>
              <a:defRPr sz="1000" b="1">
                <a:solidFill>
                  <a:srgbClr val="2563EB"/>
                </a:solidFill>
              </a:defRPr>
            </a:pPr>
            <a:r>
              <a:t>EXECUTIVE CONTEXT</a:t>
            </a:r>
          </a:p>
        </p:txBody>
      </p:sp>
      <p:sp>
        <p:nvSpPr>
          <p:cNvPr id="4" name="TextBox 3"/>
          <p:cNvSpPr txBox="1"/>
          <p:nvPr/>
        </p:nvSpPr>
        <p:spPr>
          <a:xfrm>
            <a:off x="731520" y="658368"/>
            <a:ext cx="10728655" cy="594360"/>
          </a:xfrm>
          <a:prstGeom prst="rect">
            <a:avLst/>
          </a:prstGeom>
          <a:noFill/>
        </p:spPr>
        <p:txBody>
          <a:bodyPr wrap="square" lIns="0" tIns="0" rIns="0" bIns="0">
            <a:spAutoFit/>
          </a:bodyPr>
          <a:lstStyle/>
          <a:p>
            <a:pPr>
              <a:defRPr sz="2200" b="1">
                <a:solidFill>
                  <a:srgbClr val="0F172A"/>
                </a:solidFill>
              </a:defRPr>
            </a:pPr>
            <a:r>
              <a:t>Background, Motivation &amp; Research Problem</a:t>
            </a:r>
          </a:p>
        </p:txBody>
      </p:sp>
      <p:sp>
        <p:nvSpPr>
          <p:cNvPr id="5" name="Rectangle 4"/>
          <p:cNvSpPr/>
          <p:nvPr/>
        </p:nvSpPr>
        <p:spPr>
          <a:xfrm>
            <a:off x="731520" y="12984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554480"/>
            <a:ext cx="512064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783080"/>
            <a:ext cx="4663440" cy="4297680"/>
          </a:xfrm>
          <a:prstGeom prst="rect">
            <a:avLst/>
          </a:prstGeom>
          <a:noFill/>
        </p:spPr>
        <p:txBody>
          <a:bodyPr wrap="square">
            <a:spAutoFit/>
          </a:bodyPr>
          <a:lstStyle/>
          <a:p>
            <a:pPr>
              <a:spcAft>
                <a:spcPts val="1400"/>
              </a:spcAft>
              <a:defRPr sz="1600" b="1">
                <a:solidFill>
                  <a:srgbClr val="DC2626"/>
                </a:solidFill>
              </a:defRPr>
            </a:pPr>
            <a:r>
              <a:t>Key Limitations of Current E-Learning Systems</a:t>
            </a:r>
          </a:p>
          <a:p>
            <a:pPr>
              <a:defRPr sz="1300" b="1">
                <a:solidFill>
                  <a:srgbClr val="0F172A"/>
                </a:solidFill>
              </a:defRPr>
            </a:pPr>
            <a:r>
              <a:t>•  Rigid 'One-Size-Fits-All' Curricula</a:t>
            </a:r>
          </a:p>
          <a:p>
            <a:pPr>
              <a:spcAft>
                <a:spcPts val="1000"/>
              </a:spcAft>
              <a:defRPr sz="1100">
                <a:solidFill>
                  <a:srgbClr val="475569"/>
                </a:solidFill>
              </a:defRPr>
            </a:pPr>
            <a:r>
              <a:t>   Conventional platforms fail to adapt to individual student knowledge levels, pace, and prerequisite gaps.</a:t>
            </a:r>
          </a:p>
          <a:p>
            <a:pPr>
              <a:defRPr sz="1300" b="1">
                <a:solidFill>
                  <a:srgbClr val="0F172A"/>
                </a:solidFill>
              </a:defRPr>
            </a:pPr>
            <a:r>
              <a:t>•  Passive Content Consumption</a:t>
            </a:r>
          </a:p>
          <a:p>
            <a:pPr>
              <a:spcAft>
                <a:spcPts val="1000"/>
              </a:spcAft>
              <a:defRPr sz="1100">
                <a:solidFill>
                  <a:srgbClr val="475569"/>
                </a:solidFill>
              </a:defRPr>
            </a:pPr>
            <a:r>
              <a:t>   Students consume videos or static text without interactive Socratic dialogue that challenges deep comprehension.</a:t>
            </a:r>
          </a:p>
          <a:p>
            <a:pPr>
              <a:defRPr sz="1300" b="1">
                <a:solidFill>
                  <a:srgbClr val="0F172A"/>
                </a:solidFill>
              </a:defRPr>
            </a:pPr>
            <a:r>
              <a:t>•  Delayed &amp; Superficial Feedback</a:t>
            </a:r>
          </a:p>
          <a:p>
            <a:pPr>
              <a:spcAft>
                <a:spcPts val="1000"/>
              </a:spcAft>
              <a:defRPr sz="1100">
                <a:solidFill>
                  <a:srgbClr val="475569"/>
                </a:solidFill>
              </a:defRPr>
            </a:pPr>
            <a:r>
              <a:t>   Manual evaluations cause multi-day delays. Automatic grading is often limited to simple binary answer keys without qualitative rubrics.</a:t>
            </a:r>
          </a:p>
          <a:p>
            <a:pPr>
              <a:defRPr sz="1300" b="1">
                <a:solidFill>
                  <a:srgbClr val="0F172A"/>
                </a:solidFill>
              </a:defRPr>
            </a:pPr>
            <a:r>
              <a:t>•  Hallucination &amp; Document Disconnect</a:t>
            </a:r>
          </a:p>
          <a:p>
            <a:pPr>
              <a:spcAft>
                <a:spcPts val="1000"/>
              </a:spcAft>
              <a:defRPr sz="1100">
                <a:solidFill>
                  <a:srgbClr val="475569"/>
                </a:solidFill>
              </a:defRPr>
            </a:pPr>
            <a:r>
              <a:t>   Generic AI chatbots invent facts, cite outdated concepts, or cannot accurately ground answers in official course lecture notes.</a:t>
            </a:r>
          </a:p>
        </p:txBody>
      </p:sp>
      <p:sp>
        <p:nvSpPr>
          <p:cNvPr id="8" name="Rounded Rectangle 7"/>
          <p:cNvSpPr/>
          <p:nvPr/>
        </p:nvSpPr>
        <p:spPr>
          <a:xfrm>
            <a:off x="6217920" y="1554480"/>
            <a:ext cx="5120640" cy="4754880"/>
          </a:xfrm>
          <a:prstGeom prst="roundRect">
            <a:avLst/>
          </a:prstGeom>
          <a:solidFill>
            <a:srgbClr val="F0F9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783080"/>
            <a:ext cx="4663440" cy="4297680"/>
          </a:xfrm>
          <a:prstGeom prst="rect">
            <a:avLst/>
          </a:prstGeom>
          <a:noFill/>
        </p:spPr>
        <p:txBody>
          <a:bodyPr wrap="square">
            <a:spAutoFit/>
          </a:bodyPr>
          <a:lstStyle/>
          <a:p>
            <a:pPr>
              <a:spcAft>
                <a:spcPts val="1400"/>
              </a:spcAft>
              <a:defRPr sz="1600" b="1">
                <a:solidFill>
                  <a:srgbClr val="2563EB"/>
                </a:solidFill>
              </a:defRPr>
            </a:pPr>
            <a:r>
              <a:t>Our Proposed Multi-Agent Solution</a:t>
            </a:r>
          </a:p>
          <a:p>
            <a:pPr>
              <a:defRPr sz="1300" b="1">
                <a:solidFill>
                  <a:srgbClr val="0F172A"/>
                </a:solidFill>
              </a:defRPr>
            </a:pPr>
            <a:r>
              <a:t>✔  Specialized Agent Team</a:t>
            </a:r>
          </a:p>
          <a:p>
            <a:pPr>
              <a:spcAft>
                <a:spcPts val="1000"/>
              </a:spcAft>
              <a:defRPr sz="1100">
                <a:solidFill>
                  <a:srgbClr val="475569"/>
                </a:solidFill>
              </a:defRPr>
            </a:pPr>
            <a:r>
              <a:t>   Decouples broad educational tasks into 6 dedicated agents: Supervisor, Tutor, Curriculum, Quiz, Evaluator, and Research.</a:t>
            </a:r>
          </a:p>
          <a:p>
            <a:pPr>
              <a:defRPr sz="1300" b="1">
                <a:solidFill>
                  <a:srgbClr val="0F172A"/>
                </a:solidFill>
              </a:defRPr>
            </a:pPr>
            <a:r>
              <a:t>✔  Socratic &amp; Dynamic Pedagogy</a:t>
            </a:r>
          </a:p>
          <a:p>
            <a:pPr>
              <a:spcAft>
                <a:spcPts val="1000"/>
              </a:spcAft>
              <a:defRPr sz="1100">
                <a:solidFill>
                  <a:srgbClr val="475569"/>
                </a:solidFill>
              </a:defRPr>
            </a:pPr>
            <a:r>
              <a:t>   Tutor uses Socratic questioning, real-world analogies, and guided inquiries instead of dumping generic paragraphs.</a:t>
            </a:r>
          </a:p>
          <a:p>
            <a:pPr>
              <a:defRPr sz="1300" b="1">
                <a:solidFill>
                  <a:srgbClr val="0F172A"/>
                </a:solidFill>
              </a:defRPr>
            </a:pPr>
            <a:r>
              <a:t>✔  Formative Rubric-Based Assessment</a:t>
            </a:r>
          </a:p>
          <a:p>
            <a:pPr>
              <a:spcAft>
                <a:spcPts val="1000"/>
              </a:spcAft>
              <a:defRPr sz="1100">
                <a:solidFill>
                  <a:srgbClr val="475569"/>
                </a:solidFill>
              </a:defRPr>
            </a:pPr>
            <a:r>
              <a:t>   Evaluator agent parses answers against strict criteria, assigning grades (A-F), percentage scores, strengths, and actionable tips.</a:t>
            </a:r>
          </a:p>
          <a:p>
            <a:pPr>
              <a:defRPr sz="1300" b="1">
                <a:solidFill>
                  <a:srgbClr val="0F172A"/>
                </a:solidFill>
              </a:defRPr>
            </a:pPr>
            <a:r>
              <a:t>✔  Hybrid RAG Grounding (FAISS + BM25)</a:t>
            </a:r>
          </a:p>
          <a:p>
            <a:pPr>
              <a:spcAft>
                <a:spcPts val="1000"/>
              </a:spcAft>
              <a:defRPr sz="1100">
                <a:solidFill>
                  <a:srgbClr val="475569"/>
                </a:solidFill>
              </a:defRPr>
            </a:pPr>
            <a:r>
              <a:t>   Embeds institutional PDFs/notes, executes multi-query expansion and reciprocal rank fusion for hallucination-free research.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lIns="0" tIns="0" rIns="0" bIns="0">
            <a:spAutoFit/>
          </a:bodyPr>
          <a:lstStyle/>
          <a:p>
            <a:pPr>
              <a:defRPr sz="1000" b="1">
                <a:solidFill>
                  <a:srgbClr val="2563EB"/>
                </a:solidFill>
              </a:defRPr>
            </a:pPr>
            <a:r>
              <a:t>SYSTEM ARCHITECTURE</a:t>
            </a:r>
          </a:p>
        </p:txBody>
      </p:sp>
      <p:sp>
        <p:nvSpPr>
          <p:cNvPr id="4" name="TextBox 3"/>
          <p:cNvSpPr txBox="1"/>
          <p:nvPr/>
        </p:nvSpPr>
        <p:spPr>
          <a:xfrm>
            <a:off x="731520" y="658368"/>
            <a:ext cx="10728655" cy="594360"/>
          </a:xfrm>
          <a:prstGeom prst="rect">
            <a:avLst/>
          </a:prstGeom>
          <a:noFill/>
        </p:spPr>
        <p:txBody>
          <a:bodyPr wrap="square" lIns="0" tIns="0" rIns="0" bIns="0">
            <a:spAutoFit/>
          </a:bodyPr>
          <a:lstStyle/>
          <a:p>
            <a:pPr>
              <a:defRPr sz="2200" b="1">
                <a:solidFill>
                  <a:srgbClr val="0F172A"/>
                </a:solidFill>
              </a:defRPr>
            </a:pPr>
            <a:r>
              <a:t>End-to-End Architectural Pipeline &amp; Components</a:t>
            </a:r>
          </a:p>
        </p:txBody>
      </p:sp>
      <p:sp>
        <p:nvSpPr>
          <p:cNvPr id="5" name="Rectangle 4"/>
          <p:cNvSpPr/>
          <p:nvPr/>
        </p:nvSpPr>
        <p:spPr>
          <a:xfrm>
            <a:off x="731520" y="12984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554480"/>
            <a:ext cx="10728655" cy="1051560"/>
          </a:xfrm>
          <a:prstGeom prst="roundRect">
            <a:avLst/>
          </a:prstGeom>
          <a:solidFill>
            <a:srgbClr val="FFFF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164592" cy="10515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645920"/>
            <a:ext cx="10149840" cy="868680"/>
          </a:xfrm>
          <a:prstGeom prst="rect">
            <a:avLst/>
          </a:prstGeom>
          <a:noFill/>
        </p:spPr>
        <p:txBody>
          <a:bodyPr wrap="square">
            <a:spAutoFit/>
          </a:bodyPr>
          <a:lstStyle/>
          <a:p>
            <a:pPr>
              <a:spcAft>
                <a:spcPts val="300"/>
              </a:spcAft>
              <a:defRPr sz="1300" b="1">
                <a:solidFill>
                  <a:srgbClr val="2563EB"/>
                </a:solidFill>
              </a:defRPr>
            </a:pPr>
            <a:r>
              <a:t>1. Presentation Layer (Streamlit UI)</a:t>
            </a:r>
          </a:p>
          <a:p>
            <a:pPr>
              <a:defRPr sz="1050">
                <a:solidFill>
                  <a:srgbClr val="0F172A"/>
                </a:solidFill>
              </a:defRPr>
            </a:pPr>
            <a:r>
              <a:t>• Interactive Web Portal (app.py) with dedicated tabs: Chat, Quiz Studio, Research Hub, Evaluation</a:t>
            </a:r>
            <a:br/>
            <a:r>
              <a:t>• Live configuration sidebar: Subject selector, student mastery level (Beginner/Inter/Adv), document uploader</a:t>
            </a:r>
            <a:br/>
            <a:r>
              <a:t>• Real-time Agent invocation diagnostics and session telemetry monitoring</a:t>
            </a:r>
          </a:p>
        </p:txBody>
      </p:sp>
      <p:sp>
        <p:nvSpPr>
          <p:cNvPr id="9" name="Rounded Rectangle 8"/>
          <p:cNvSpPr/>
          <p:nvPr/>
        </p:nvSpPr>
        <p:spPr>
          <a:xfrm>
            <a:off x="731520" y="2770632"/>
            <a:ext cx="10728655" cy="1051560"/>
          </a:xfrm>
          <a:prstGeom prst="roundRect">
            <a:avLst/>
          </a:prstGeom>
          <a:solidFill>
            <a:srgbClr val="FFFFFF"/>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2770632"/>
            <a:ext cx="164592" cy="105156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862072"/>
            <a:ext cx="10149840" cy="868680"/>
          </a:xfrm>
          <a:prstGeom prst="rect">
            <a:avLst/>
          </a:prstGeom>
          <a:noFill/>
        </p:spPr>
        <p:txBody>
          <a:bodyPr wrap="square">
            <a:spAutoFit/>
          </a:bodyPr>
          <a:lstStyle/>
          <a:p>
            <a:pPr>
              <a:spcAft>
                <a:spcPts val="300"/>
              </a:spcAft>
              <a:defRPr sz="1300" b="1">
                <a:solidFill>
                  <a:srgbClr val="0D9488"/>
                </a:solidFill>
              </a:defRPr>
            </a:pPr>
            <a:r>
              <a:t>2. Multi-Agent Orchestration Layer (LangGraph)</a:t>
            </a:r>
          </a:p>
          <a:p>
            <a:pPr>
              <a:defRPr sz="1050">
                <a:solidFill>
                  <a:srgbClr val="0F172A"/>
                </a:solidFill>
              </a:defRPr>
            </a:pPr>
            <a:r>
              <a:t>• StateGraph state machine architecture governing multi-agent dialogue flow</a:t>
            </a:r>
            <a:br/>
            <a:r>
              <a:t>• Central Supervisor Node performs zero-shot intent classification and conditional edge routing</a:t>
            </a:r>
            <a:br/>
            <a:r>
              <a:t>• Typed state container (`EducationState`) tracks conversation history, active agent, and evaluation data</a:t>
            </a:r>
          </a:p>
        </p:txBody>
      </p:sp>
      <p:sp>
        <p:nvSpPr>
          <p:cNvPr id="12" name="Rounded Rectangle 11"/>
          <p:cNvSpPr/>
          <p:nvPr/>
        </p:nvSpPr>
        <p:spPr>
          <a:xfrm>
            <a:off x="731520" y="3986784"/>
            <a:ext cx="10728655" cy="1051560"/>
          </a:xfrm>
          <a:prstGeom prst="roundRect">
            <a:avLst/>
          </a:prstGeom>
          <a:solidFill>
            <a:srgbClr val="FFFFFF"/>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3986784"/>
            <a:ext cx="164592" cy="105156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4078224"/>
            <a:ext cx="10149840" cy="868680"/>
          </a:xfrm>
          <a:prstGeom prst="rect">
            <a:avLst/>
          </a:prstGeom>
          <a:noFill/>
        </p:spPr>
        <p:txBody>
          <a:bodyPr wrap="square">
            <a:spAutoFit/>
          </a:bodyPr>
          <a:lstStyle/>
          <a:p>
            <a:pPr>
              <a:spcAft>
                <a:spcPts val="300"/>
              </a:spcAft>
              <a:defRPr sz="1300" b="1">
                <a:solidFill>
                  <a:srgbClr val="7C3AED"/>
                </a:solidFill>
              </a:defRPr>
            </a:pPr>
            <a:r>
              <a:t>3. Reasoning &amp; Foundation LLM Engine</a:t>
            </a:r>
          </a:p>
          <a:p>
            <a:pPr>
              <a:defRPr sz="1050">
                <a:solidFill>
                  <a:srgbClr val="0F172A"/>
                </a:solidFill>
              </a:defRPr>
            </a:pPr>
            <a:r>
              <a:t>• Powered by Anthropic Claude (claude-sonnet-4) with high-reasoning temperature controls</a:t>
            </a:r>
            <a:br/>
            <a:r>
              <a:t>• Multi-provider architectural abstraction (config.json) supporting Anthropic, OpenAI, and Gemini</a:t>
            </a:r>
            <a:br/>
            <a:r>
              <a:t>• Structured JSON output guarantees with regex-based resilient parsers and fallback handlers</a:t>
            </a:r>
          </a:p>
        </p:txBody>
      </p:sp>
      <p:sp>
        <p:nvSpPr>
          <p:cNvPr id="15" name="Rounded Rectangle 14"/>
          <p:cNvSpPr/>
          <p:nvPr/>
        </p:nvSpPr>
        <p:spPr>
          <a:xfrm>
            <a:off x="731520" y="5202936"/>
            <a:ext cx="10728655" cy="1051560"/>
          </a:xfrm>
          <a:prstGeom prst="roundRect">
            <a:avLst/>
          </a:prstGeom>
          <a:solidFill>
            <a:srgbClr val="FFFFFF"/>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1520" y="5202936"/>
            <a:ext cx="164592" cy="105156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5294376"/>
            <a:ext cx="10149840" cy="868680"/>
          </a:xfrm>
          <a:prstGeom prst="rect">
            <a:avLst/>
          </a:prstGeom>
          <a:noFill/>
        </p:spPr>
        <p:txBody>
          <a:bodyPr wrap="square">
            <a:spAutoFit/>
          </a:bodyPr>
          <a:lstStyle/>
          <a:p>
            <a:pPr>
              <a:spcAft>
                <a:spcPts val="300"/>
              </a:spcAft>
              <a:defRPr sz="1300" b="1">
                <a:solidFill>
                  <a:srgbClr val="D97706"/>
                </a:solidFill>
              </a:defRPr>
            </a:pPr>
            <a:r>
              <a:t>4. Advanced Hybrid RAG &amp; Vector Knowledge Base</a:t>
            </a:r>
          </a:p>
          <a:p>
            <a:pPr>
              <a:defRPr sz="1050">
                <a:solidFill>
                  <a:srgbClr val="0F172A"/>
                </a:solidFill>
              </a:defRPr>
            </a:pPr>
            <a:r>
              <a:t>• Dual indexing: FAISS dense vector store (`all-MiniLM-L6-v2`) + BM25 sparse lexical engine</a:t>
            </a:r>
            <a:br/>
            <a:r>
              <a:t>• Multi-Query LLM Expansion (3 synthetic query variants generated per user prompt)</a:t>
            </a:r>
            <a:br/>
            <a:r>
              <a:t>• Reciprocal Rank Fusion (RRF, λ=0.6) for optimal ranking of course notes, textbooks, and syllabus PDFs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lIns="0" tIns="0" rIns="0" bIns="0">
            <a:spAutoFit/>
          </a:bodyPr>
          <a:lstStyle/>
          <a:p>
            <a:pPr>
              <a:defRPr sz="1000" b="1">
                <a:solidFill>
                  <a:srgbClr val="2563EB"/>
                </a:solidFill>
              </a:defRPr>
            </a:pPr>
            <a:r>
              <a:t>MULTI-AGENT ECOSYSTEM</a:t>
            </a:r>
          </a:p>
        </p:txBody>
      </p:sp>
      <p:sp>
        <p:nvSpPr>
          <p:cNvPr id="4" name="TextBox 3"/>
          <p:cNvSpPr txBox="1"/>
          <p:nvPr/>
        </p:nvSpPr>
        <p:spPr>
          <a:xfrm>
            <a:off x="731520" y="658368"/>
            <a:ext cx="10728655" cy="594360"/>
          </a:xfrm>
          <a:prstGeom prst="rect">
            <a:avLst/>
          </a:prstGeom>
          <a:noFill/>
        </p:spPr>
        <p:txBody>
          <a:bodyPr wrap="square" lIns="0" tIns="0" rIns="0" bIns="0">
            <a:spAutoFit/>
          </a:bodyPr>
          <a:lstStyle/>
          <a:p>
            <a:pPr>
              <a:defRPr sz="2200" b="1">
                <a:solidFill>
                  <a:srgbClr val="0F172A"/>
                </a:solidFill>
              </a:defRPr>
            </a:pPr>
            <a:r>
              <a:t>Functional Roles &amp; Capabilities of the 6 Specialist Agents</a:t>
            </a:r>
          </a:p>
        </p:txBody>
      </p:sp>
      <p:sp>
        <p:nvSpPr>
          <p:cNvPr id="5" name="Rectangle 4"/>
          <p:cNvSpPr/>
          <p:nvPr/>
        </p:nvSpPr>
        <p:spPr>
          <a:xfrm>
            <a:off x="731520" y="12984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00200"/>
            <a:ext cx="3401568" cy="2240280"/>
          </a:xfrm>
          <a:prstGeom prst="roundRect">
            <a:avLst/>
          </a:prstGeom>
          <a:solidFill>
            <a:srgbClr val="FFFF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64792"/>
            <a:ext cx="3035808" cy="1965960"/>
          </a:xfrm>
          <a:prstGeom prst="rect">
            <a:avLst/>
          </a:prstGeom>
          <a:noFill/>
        </p:spPr>
        <p:txBody>
          <a:bodyPr wrap="square">
            <a:spAutoFit/>
          </a:bodyPr>
          <a:lstStyle/>
          <a:p>
            <a:pPr>
              <a:spcAft>
                <a:spcPts val="200"/>
              </a:spcAft>
              <a:defRPr sz="1400" b="1">
                <a:solidFill>
                  <a:srgbClr val="2563EB"/>
                </a:solidFill>
              </a:defRPr>
            </a:pPr>
            <a:r>
              <a:t>Supervisor Agent</a:t>
            </a:r>
          </a:p>
          <a:p>
            <a:pPr>
              <a:spcAft>
                <a:spcPts val="800"/>
              </a:spcAft>
              <a:defRPr sz="1100" b="1">
                <a:solidFill>
                  <a:srgbClr val="475569"/>
                </a:solidFill>
              </a:defRPr>
            </a:pPr>
            <a:r>
              <a:t>Intent Classifier &amp; Router</a:t>
            </a:r>
          </a:p>
          <a:p>
            <a:pPr>
              <a:defRPr sz="1050">
                <a:solidFill>
                  <a:srgbClr val="0F172A"/>
                </a:solidFill>
              </a:defRPr>
            </a:pPr>
            <a:r>
              <a:t>Analyzes user input semantics and dynamically delegates execution to the most qualified specialist node. Features automatic fallback to Tutor.</a:t>
            </a:r>
          </a:p>
        </p:txBody>
      </p:sp>
      <p:sp>
        <p:nvSpPr>
          <p:cNvPr id="8" name="Rounded Rectangle 7"/>
          <p:cNvSpPr/>
          <p:nvPr/>
        </p:nvSpPr>
        <p:spPr>
          <a:xfrm>
            <a:off x="4389120" y="1600200"/>
            <a:ext cx="3401568" cy="2240280"/>
          </a:xfrm>
          <a:prstGeom prst="roundRect">
            <a:avLst/>
          </a:prstGeom>
          <a:solidFill>
            <a:srgbClr val="FFFFFF"/>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1764792"/>
            <a:ext cx="3035808" cy="1965960"/>
          </a:xfrm>
          <a:prstGeom prst="rect">
            <a:avLst/>
          </a:prstGeom>
          <a:noFill/>
        </p:spPr>
        <p:txBody>
          <a:bodyPr wrap="square">
            <a:spAutoFit/>
          </a:bodyPr>
          <a:lstStyle/>
          <a:p>
            <a:pPr>
              <a:spcAft>
                <a:spcPts val="200"/>
              </a:spcAft>
              <a:defRPr sz="1400" b="1">
                <a:solidFill>
                  <a:srgbClr val="0D9488"/>
                </a:solidFill>
              </a:defRPr>
            </a:pPr>
            <a:r>
              <a:t>Tutor Agent</a:t>
            </a:r>
          </a:p>
          <a:p>
            <a:pPr>
              <a:spcAft>
                <a:spcPts val="800"/>
              </a:spcAft>
              <a:defRPr sz="1100" b="1">
                <a:solidFill>
                  <a:srgbClr val="475569"/>
                </a:solidFill>
              </a:defRPr>
            </a:pPr>
            <a:r>
              <a:t>Socratic Dialogue Engine</a:t>
            </a:r>
          </a:p>
          <a:p>
            <a:pPr>
              <a:defRPr sz="1050">
                <a:solidFill>
                  <a:srgbClr val="0F172A"/>
                </a:solidFill>
              </a:defRPr>
            </a:pPr>
            <a:r>
              <a:t>Delivers conceptual breakdowns using the Socratic method, interactive analogies, and step-by-step guidance tailored to student proficiency level.</a:t>
            </a:r>
          </a:p>
        </p:txBody>
      </p:sp>
      <p:sp>
        <p:nvSpPr>
          <p:cNvPr id="10" name="Rounded Rectangle 9"/>
          <p:cNvSpPr/>
          <p:nvPr/>
        </p:nvSpPr>
        <p:spPr>
          <a:xfrm>
            <a:off x="8046720" y="1600200"/>
            <a:ext cx="3401568" cy="2240280"/>
          </a:xfrm>
          <a:prstGeom prst="roundRect">
            <a:avLst/>
          </a:prstGeom>
          <a:solidFill>
            <a:srgbClr val="FFFFFF"/>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1764792"/>
            <a:ext cx="3035808" cy="1965960"/>
          </a:xfrm>
          <a:prstGeom prst="rect">
            <a:avLst/>
          </a:prstGeom>
          <a:noFill/>
        </p:spPr>
        <p:txBody>
          <a:bodyPr wrap="square">
            <a:spAutoFit/>
          </a:bodyPr>
          <a:lstStyle/>
          <a:p>
            <a:pPr>
              <a:spcAft>
                <a:spcPts val="200"/>
              </a:spcAft>
              <a:defRPr sz="1400" b="1">
                <a:solidFill>
                  <a:srgbClr val="7C3AED"/>
                </a:solidFill>
              </a:defRPr>
            </a:pPr>
            <a:r>
              <a:t>Curriculum Agent</a:t>
            </a:r>
          </a:p>
          <a:p>
            <a:pPr>
              <a:spcAft>
                <a:spcPts val="800"/>
              </a:spcAft>
              <a:defRPr sz="1100" b="1">
                <a:solidFill>
                  <a:srgbClr val="475569"/>
                </a:solidFill>
              </a:defRPr>
            </a:pPr>
            <a:r>
              <a:t>Adaptive Study Path Architect</a:t>
            </a:r>
          </a:p>
          <a:p>
            <a:pPr>
              <a:defRPr sz="1050">
                <a:solidFill>
                  <a:srgbClr val="0F172A"/>
                </a:solidFill>
              </a:defRPr>
            </a:pPr>
            <a:r>
              <a:t>Designs comprehensive, week-by-week personalized syllabi containing learning objectives, prerequisites, resources, and milestone checkpoints.</a:t>
            </a:r>
          </a:p>
        </p:txBody>
      </p:sp>
      <p:sp>
        <p:nvSpPr>
          <p:cNvPr id="12" name="Rounded Rectangle 11"/>
          <p:cNvSpPr/>
          <p:nvPr/>
        </p:nvSpPr>
        <p:spPr>
          <a:xfrm>
            <a:off x="731520" y="4069080"/>
            <a:ext cx="3401568" cy="2240280"/>
          </a:xfrm>
          <a:prstGeom prst="roundRect">
            <a:avLst/>
          </a:prstGeom>
          <a:solidFill>
            <a:srgbClr val="FFFFFF"/>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233672"/>
            <a:ext cx="3035808" cy="1965960"/>
          </a:xfrm>
          <a:prstGeom prst="rect">
            <a:avLst/>
          </a:prstGeom>
          <a:noFill/>
        </p:spPr>
        <p:txBody>
          <a:bodyPr wrap="square">
            <a:spAutoFit/>
          </a:bodyPr>
          <a:lstStyle/>
          <a:p>
            <a:pPr>
              <a:spcAft>
                <a:spcPts val="200"/>
              </a:spcAft>
              <a:defRPr sz="1400" b="1">
                <a:solidFill>
                  <a:srgbClr val="D97706"/>
                </a:solidFill>
              </a:defRPr>
            </a:pPr>
            <a:r>
              <a:t>Quiz Agent</a:t>
            </a:r>
          </a:p>
          <a:p>
            <a:pPr>
              <a:spcAft>
                <a:spcPts val="800"/>
              </a:spcAft>
              <a:defRPr sz="1100" b="1">
                <a:solidFill>
                  <a:srgbClr val="475569"/>
                </a:solidFill>
              </a:defRPr>
            </a:pPr>
            <a:r>
              <a:t>Adaptive Assessment Generator</a:t>
            </a:r>
          </a:p>
          <a:p>
            <a:pPr>
              <a:defRPr sz="1050">
                <a:solidFill>
                  <a:srgbClr val="0F172A"/>
                </a:solidFill>
              </a:defRPr>
            </a:pPr>
            <a:r>
              <a:t>Creates calibrated MCQs and short-answer questions (30% Easy, 50% Medium, 20% Hard) with instant auto-grading keys and answer explanations.</a:t>
            </a:r>
          </a:p>
        </p:txBody>
      </p:sp>
      <p:sp>
        <p:nvSpPr>
          <p:cNvPr id="14" name="Rounded Rectangle 13"/>
          <p:cNvSpPr/>
          <p:nvPr/>
        </p:nvSpPr>
        <p:spPr>
          <a:xfrm>
            <a:off x="4389120" y="4069080"/>
            <a:ext cx="3401568" cy="2240280"/>
          </a:xfrm>
          <a:prstGeom prst="roundRect">
            <a:avLst/>
          </a:prstGeom>
          <a:solidFill>
            <a:srgbClr val="FFFFFF"/>
          </a:solidFill>
          <a:ln w="12700">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0" y="4233672"/>
            <a:ext cx="3035808" cy="1965960"/>
          </a:xfrm>
          <a:prstGeom prst="rect">
            <a:avLst/>
          </a:prstGeom>
          <a:noFill/>
        </p:spPr>
        <p:txBody>
          <a:bodyPr wrap="square">
            <a:spAutoFit/>
          </a:bodyPr>
          <a:lstStyle/>
          <a:p>
            <a:pPr>
              <a:spcAft>
                <a:spcPts val="200"/>
              </a:spcAft>
              <a:defRPr sz="1400" b="1">
                <a:solidFill>
                  <a:srgbClr val="E11D48"/>
                </a:solidFill>
              </a:defRPr>
            </a:pPr>
            <a:r>
              <a:t>Evaluator Agent</a:t>
            </a:r>
          </a:p>
          <a:p>
            <a:pPr>
              <a:spcAft>
                <a:spcPts val="800"/>
              </a:spcAft>
              <a:defRPr sz="1100" b="1">
                <a:solidFill>
                  <a:srgbClr val="475569"/>
                </a:solidFill>
              </a:defRPr>
            </a:pPr>
            <a:r>
              <a:t>Formative Rubric Grader</a:t>
            </a:r>
          </a:p>
          <a:p>
            <a:pPr>
              <a:defRPr sz="1050">
                <a:solidFill>
                  <a:srgbClr val="0F172A"/>
                </a:solidFill>
              </a:defRPr>
            </a:pPr>
            <a:r>
              <a:t>Grades student free-form answers on a 0-10 scale with letter grades (A-F), pinpointing conceptual strengths, weaknesses, and model answers.</a:t>
            </a:r>
          </a:p>
        </p:txBody>
      </p:sp>
      <p:sp>
        <p:nvSpPr>
          <p:cNvPr id="16" name="Rounded Rectangle 15"/>
          <p:cNvSpPr/>
          <p:nvPr/>
        </p:nvSpPr>
        <p:spPr>
          <a:xfrm>
            <a:off x="8046720" y="4069080"/>
            <a:ext cx="3401568" cy="2240280"/>
          </a:xfrm>
          <a:prstGeom prst="roundRect">
            <a:avLst/>
          </a:prstGeom>
          <a:solidFill>
            <a:srgbClr val="FFFFFF"/>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0" y="4233672"/>
            <a:ext cx="3035808" cy="1965960"/>
          </a:xfrm>
          <a:prstGeom prst="rect">
            <a:avLst/>
          </a:prstGeom>
          <a:noFill/>
        </p:spPr>
        <p:txBody>
          <a:bodyPr wrap="square">
            <a:spAutoFit/>
          </a:bodyPr>
          <a:lstStyle/>
          <a:p>
            <a:pPr>
              <a:spcAft>
                <a:spcPts val="200"/>
              </a:spcAft>
              <a:defRPr sz="1400" b="1">
                <a:solidFill>
                  <a:srgbClr val="059669"/>
                </a:solidFill>
              </a:defRPr>
            </a:pPr>
            <a:r>
              <a:t>Research Agent</a:t>
            </a:r>
          </a:p>
          <a:p>
            <a:pPr>
              <a:spcAft>
                <a:spcPts val="800"/>
              </a:spcAft>
              <a:defRPr sz="1100" b="1">
                <a:solidFill>
                  <a:srgbClr val="475569"/>
                </a:solidFill>
              </a:defRPr>
            </a:pPr>
            <a:r>
              <a:t>Document-Grounded Q&amp;A</a:t>
            </a:r>
          </a:p>
          <a:p>
            <a:pPr>
              <a:defRPr sz="1050">
                <a:solidFill>
                  <a:srgbClr val="0F172A"/>
                </a:solidFill>
              </a:defRPr>
            </a:pPr>
            <a:r>
              <a:t>Performs deep semantic retrieval over uploaded institutional PDFs/materials, synthesizing factual answers with explicit citations.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lIns="0" tIns="0" rIns="0" bIns="0">
            <a:spAutoFit/>
          </a:bodyPr>
          <a:lstStyle/>
          <a:p>
            <a:pPr>
              <a:defRPr sz="1000" b="1">
                <a:solidFill>
                  <a:srgbClr val="2563EB"/>
                </a:solidFill>
              </a:defRPr>
            </a:pPr>
            <a:r>
              <a:t>AGENT ORCHESTRATION</a:t>
            </a:r>
          </a:p>
        </p:txBody>
      </p:sp>
      <p:sp>
        <p:nvSpPr>
          <p:cNvPr id="4" name="TextBox 3"/>
          <p:cNvSpPr txBox="1"/>
          <p:nvPr/>
        </p:nvSpPr>
        <p:spPr>
          <a:xfrm>
            <a:off x="731520" y="658368"/>
            <a:ext cx="10728655" cy="594360"/>
          </a:xfrm>
          <a:prstGeom prst="rect">
            <a:avLst/>
          </a:prstGeom>
          <a:noFill/>
        </p:spPr>
        <p:txBody>
          <a:bodyPr wrap="square" lIns="0" tIns="0" rIns="0" bIns="0">
            <a:spAutoFit/>
          </a:bodyPr>
          <a:lstStyle/>
          <a:p>
            <a:pPr>
              <a:defRPr sz="2200" b="1">
                <a:solidFill>
                  <a:srgbClr val="0F172A"/>
                </a:solidFill>
              </a:defRPr>
            </a:pPr>
            <a:r>
              <a:t>LangGraph State Machine, State Schema &amp; Dynamic Routing</a:t>
            </a:r>
          </a:p>
        </p:txBody>
      </p:sp>
      <p:sp>
        <p:nvSpPr>
          <p:cNvPr id="5" name="Rectangle 4"/>
          <p:cNvSpPr/>
          <p:nvPr/>
        </p:nvSpPr>
        <p:spPr>
          <a:xfrm>
            <a:off x="731520" y="12984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554480"/>
            <a:ext cx="512064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737360"/>
            <a:ext cx="4663440" cy="4389120"/>
          </a:xfrm>
          <a:prstGeom prst="rect">
            <a:avLst/>
          </a:prstGeom>
          <a:noFill/>
        </p:spPr>
        <p:txBody>
          <a:bodyPr wrap="square">
            <a:spAutoFit/>
          </a:bodyPr>
          <a:lstStyle/>
          <a:p>
            <a:pPr>
              <a:spcAft>
                <a:spcPts val="1000"/>
              </a:spcAft>
              <a:defRPr sz="1500" b="1">
                <a:solidFill>
                  <a:srgbClr val="2563EB"/>
                </a:solidFill>
              </a:defRPr>
            </a:pPr>
            <a:r>
              <a:t>EducationState Schema (LangGraph)</a:t>
            </a:r>
          </a:p>
          <a:p>
            <a:pPr>
              <a:defRPr sz="1100" b="1">
                <a:solidFill>
                  <a:srgbClr val="0F172A"/>
                </a:solidFill>
              </a:defRPr>
            </a:pPr>
            <a:r>
              <a:t>• messages: Annotated[list[BaseMessage], add_messages]</a:t>
            </a:r>
          </a:p>
          <a:p>
            <a:pPr>
              <a:spcAft>
                <a:spcPts val="600"/>
              </a:spcAft>
              <a:defRPr sz="1000">
                <a:solidFill>
                  <a:srgbClr val="475569"/>
                </a:solidFill>
              </a:defRPr>
            </a:pPr>
            <a:r>
              <a:t>   Full append-only chat history preserving conversation context.</a:t>
            </a:r>
          </a:p>
          <a:p>
            <a:pPr>
              <a:defRPr sz="1100" b="1">
                <a:solidFill>
                  <a:srgbClr val="0F172A"/>
                </a:solidFill>
              </a:defRPr>
            </a:pPr>
            <a:r>
              <a:t>• current_agent: str</a:t>
            </a:r>
          </a:p>
          <a:p>
            <a:pPr>
              <a:spcAft>
                <a:spcPts val="600"/>
              </a:spcAft>
              <a:defRPr sz="1000">
                <a:solidFill>
                  <a:srgbClr val="475569"/>
                </a:solidFill>
              </a:defRPr>
            </a:pPr>
            <a:r>
              <a:t>   Designates the chosen agent node for the current turn.</a:t>
            </a:r>
          </a:p>
          <a:p>
            <a:pPr>
              <a:defRPr sz="1100" b="1">
                <a:solidFill>
                  <a:srgbClr val="0F172A"/>
                </a:solidFill>
              </a:defRPr>
            </a:pPr>
            <a:r>
              <a:t>• subject: str</a:t>
            </a:r>
          </a:p>
          <a:p>
            <a:pPr>
              <a:spcAft>
                <a:spcPts val="600"/>
              </a:spcAft>
              <a:defRPr sz="1000">
                <a:solidFill>
                  <a:srgbClr val="475569"/>
                </a:solidFill>
              </a:defRPr>
            </a:pPr>
            <a:r>
              <a:t>   Current educational domain (Calculus, DSA, Physics, etc.).</a:t>
            </a:r>
          </a:p>
          <a:p>
            <a:pPr>
              <a:defRPr sz="1100" b="1">
                <a:solidFill>
                  <a:srgbClr val="0F172A"/>
                </a:solidFill>
              </a:defRPr>
            </a:pPr>
            <a:r>
              <a:t>• student_level: str</a:t>
            </a:r>
          </a:p>
          <a:p>
            <a:pPr>
              <a:spcAft>
                <a:spcPts val="600"/>
              </a:spcAft>
              <a:defRPr sz="1000">
                <a:solidFill>
                  <a:srgbClr val="475569"/>
                </a:solidFill>
              </a:defRPr>
            </a:pPr>
            <a:r>
              <a:t>   Student mastery setting: Beginner, Intermediate, Advanced.</a:t>
            </a:r>
          </a:p>
          <a:p>
            <a:pPr>
              <a:defRPr sz="1100" b="1">
                <a:solidFill>
                  <a:srgbClr val="0F172A"/>
                </a:solidFill>
              </a:defRPr>
            </a:pPr>
            <a:r>
              <a:t>• last_response: str</a:t>
            </a:r>
          </a:p>
          <a:p>
            <a:pPr>
              <a:spcAft>
                <a:spcPts val="600"/>
              </a:spcAft>
              <a:defRPr sz="1000">
                <a:solidFill>
                  <a:srgbClr val="475569"/>
                </a:solidFill>
              </a:defRPr>
            </a:pPr>
            <a:r>
              <a:t>   Final synthesized output generated by the specialist agent.</a:t>
            </a:r>
          </a:p>
          <a:p>
            <a:pPr>
              <a:defRPr sz="1100" b="1">
                <a:solidFill>
                  <a:srgbClr val="0F172A"/>
                </a:solidFill>
              </a:defRPr>
            </a:pPr>
            <a:r>
              <a:t>• quiz_data: dict</a:t>
            </a:r>
          </a:p>
          <a:p>
            <a:pPr>
              <a:spcAft>
                <a:spcPts val="600"/>
              </a:spcAft>
              <a:defRPr sz="1000">
                <a:solidFill>
                  <a:srgbClr val="475569"/>
                </a:solidFill>
              </a:defRPr>
            </a:pPr>
            <a:r>
              <a:t>   Active quiz questions, options, correct answers, and states.</a:t>
            </a:r>
          </a:p>
          <a:p>
            <a:pPr>
              <a:defRPr sz="1100" b="1">
                <a:solidFill>
                  <a:srgbClr val="0F172A"/>
                </a:solidFill>
              </a:defRPr>
            </a:pPr>
            <a:r>
              <a:t>• metadata: dict</a:t>
            </a:r>
          </a:p>
          <a:p>
            <a:pPr>
              <a:spcAft>
                <a:spcPts val="600"/>
              </a:spcAft>
              <a:defRPr sz="1000">
                <a:solidFill>
                  <a:srgbClr val="475569"/>
                </a:solidFill>
              </a:defRPr>
            </a:pPr>
            <a:r>
              <a:t>   Telemetry, routing logs, execution timings, and diagnostics.</a:t>
            </a:r>
          </a:p>
        </p:txBody>
      </p:sp>
      <p:sp>
        <p:nvSpPr>
          <p:cNvPr id="8" name="Rounded Rectangle 7"/>
          <p:cNvSpPr/>
          <p:nvPr/>
        </p:nvSpPr>
        <p:spPr>
          <a:xfrm>
            <a:off x="6217920" y="1554480"/>
            <a:ext cx="5120640" cy="4754880"/>
          </a:xfrm>
          <a:prstGeom prst="roundRect">
            <a:avLst/>
          </a:prstGeom>
          <a:solidFill>
            <a:srgbClr val="F8FAFC"/>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737360"/>
            <a:ext cx="4663440" cy="4389120"/>
          </a:xfrm>
          <a:prstGeom prst="rect">
            <a:avLst/>
          </a:prstGeom>
          <a:noFill/>
        </p:spPr>
        <p:txBody>
          <a:bodyPr wrap="square">
            <a:spAutoFit/>
          </a:bodyPr>
          <a:lstStyle/>
          <a:p>
            <a:pPr>
              <a:spcAft>
                <a:spcPts val="1000"/>
              </a:spcAft>
              <a:defRPr sz="1500" b="1">
                <a:solidFill>
                  <a:srgbClr val="0D9488"/>
                </a:solidFill>
              </a:defRPr>
            </a:pPr>
            <a:r>
              <a:t>Dynamic Workflow Execution Flow</a:t>
            </a:r>
          </a:p>
          <a:p>
            <a:pPr>
              <a:defRPr sz="1200" b="1">
                <a:solidFill>
                  <a:srgbClr val="0F172A"/>
                </a:solidFill>
              </a:defRPr>
            </a:pPr>
            <a:r>
              <a:t>▶ 1. State Ingestion</a:t>
            </a:r>
          </a:p>
          <a:p>
            <a:pPr>
              <a:spcAft>
                <a:spcPts val="800"/>
              </a:spcAft>
              <a:defRPr sz="1050">
                <a:solidFill>
                  <a:srgbClr val="475569"/>
                </a:solidFill>
              </a:defRPr>
            </a:pPr>
            <a:r>
              <a:t>   Streamlit captures user prompt, wraps conversation history in LangChain message objects, and calls `EducationGraph.run()`.</a:t>
            </a:r>
          </a:p>
          <a:p>
            <a:pPr>
              <a:defRPr sz="1200" b="1">
                <a:solidFill>
                  <a:srgbClr val="0F172A"/>
                </a:solidFill>
              </a:defRPr>
            </a:pPr>
            <a:r>
              <a:t>▶ 2. Supervisor Classification</a:t>
            </a:r>
          </a:p>
          <a:p>
            <a:pPr>
              <a:spcAft>
                <a:spcPts val="800"/>
              </a:spcAft>
              <a:defRPr sz="1050">
                <a:solidFill>
                  <a:srgbClr val="475569"/>
                </a:solidFill>
              </a:defRPr>
            </a:pPr>
            <a:r>
              <a:t>   `supervisor_node` prompts Claude with routing taxonomy and extracts the target agent identifier.</a:t>
            </a:r>
          </a:p>
          <a:p>
            <a:pPr>
              <a:defRPr sz="1200" b="1">
                <a:solidFill>
                  <a:srgbClr val="0F172A"/>
                </a:solidFill>
              </a:defRPr>
            </a:pPr>
            <a:r>
              <a:t>▶ 3. Conditional Edge Dispatch</a:t>
            </a:r>
          </a:p>
          <a:p>
            <a:pPr>
              <a:spcAft>
                <a:spcPts val="800"/>
              </a:spcAft>
              <a:defRPr sz="1050">
                <a:solidFill>
                  <a:srgbClr val="475569"/>
                </a:solidFill>
              </a:defRPr>
            </a:pPr>
            <a:r>
              <a:t>   LangGraph evaluates `route_to_agent()` condition, forwarding state to one of 5 specialist nodes.</a:t>
            </a:r>
          </a:p>
          <a:p>
            <a:pPr>
              <a:defRPr sz="1200" b="1">
                <a:solidFill>
                  <a:srgbClr val="0F172A"/>
                </a:solidFill>
              </a:defRPr>
            </a:pPr>
            <a:r>
              <a:t>▶ 4. Specialist Node Invocation</a:t>
            </a:r>
          </a:p>
          <a:p>
            <a:pPr>
              <a:spcAft>
                <a:spcPts val="800"/>
              </a:spcAft>
              <a:defRPr sz="1050">
                <a:solidFill>
                  <a:srgbClr val="475569"/>
                </a:solidFill>
              </a:defRPr>
            </a:pPr>
            <a:r>
              <a:t>   Selected agent executes domain logic with injected context (e.g. Research Agent retrieves vector chunks).</a:t>
            </a:r>
          </a:p>
          <a:p>
            <a:pPr>
              <a:defRPr sz="1200" b="1">
                <a:solidFill>
                  <a:srgbClr val="0F172A"/>
                </a:solidFill>
              </a:defRPr>
            </a:pPr>
            <a:r>
              <a:t>▶ 5. State Termination &amp; Session Sync</a:t>
            </a:r>
          </a:p>
          <a:p>
            <a:pPr>
              <a:spcAft>
                <a:spcPts val="800"/>
              </a:spcAft>
              <a:defRPr sz="1050">
                <a:solidFill>
                  <a:srgbClr val="475569"/>
                </a:solidFill>
              </a:defRPr>
            </a:pPr>
            <a:r>
              <a:t>   Response is written to `last_response`, state transitions to `END`, and Streamlit UI re-renders reactively.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lIns="0" tIns="0" rIns="0" bIns="0">
            <a:spAutoFit/>
          </a:bodyPr>
          <a:lstStyle/>
          <a:p>
            <a:pPr>
              <a:defRPr sz="1000" b="1">
                <a:solidFill>
                  <a:srgbClr val="2563EB"/>
                </a:solidFill>
              </a:defRPr>
            </a:pPr>
            <a:r>
              <a:t>INFORMATION RETRIEVAL</a:t>
            </a:r>
          </a:p>
        </p:txBody>
      </p:sp>
      <p:sp>
        <p:nvSpPr>
          <p:cNvPr id="4" name="TextBox 3"/>
          <p:cNvSpPr txBox="1"/>
          <p:nvPr/>
        </p:nvSpPr>
        <p:spPr>
          <a:xfrm>
            <a:off x="731520" y="658368"/>
            <a:ext cx="10728655" cy="594360"/>
          </a:xfrm>
          <a:prstGeom prst="rect">
            <a:avLst/>
          </a:prstGeom>
          <a:noFill/>
        </p:spPr>
        <p:txBody>
          <a:bodyPr wrap="square" lIns="0" tIns="0" rIns="0" bIns="0">
            <a:spAutoFit/>
          </a:bodyPr>
          <a:lstStyle/>
          <a:p>
            <a:pPr>
              <a:defRPr sz="2200" b="1">
                <a:solidFill>
                  <a:srgbClr val="0F172A"/>
                </a:solidFill>
              </a:defRPr>
            </a:pPr>
            <a:r>
              <a:t>Advanced Hybrid RAG Pipeline: FAISS + BM25 + RRF</a:t>
            </a:r>
          </a:p>
        </p:txBody>
      </p:sp>
      <p:sp>
        <p:nvSpPr>
          <p:cNvPr id="5" name="Rectangle 4"/>
          <p:cNvSpPr/>
          <p:nvPr/>
        </p:nvSpPr>
        <p:spPr>
          <a:xfrm>
            <a:off x="731520" y="12984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554480"/>
            <a:ext cx="10728655" cy="1051560"/>
          </a:xfrm>
          <a:prstGeom prst="roundRect">
            <a:avLst/>
          </a:prstGeom>
          <a:solidFill>
            <a:srgbClr val="FFFF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164592" cy="10515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645920"/>
            <a:ext cx="10149840" cy="868680"/>
          </a:xfrm>
          <a:prstGeom prst="rect">
            <a:avLst/>
          </a:prstGeom>
          <a:noFill/>
        </p:spPr>
        <p:txBody>
          <a:bodyPr wrap="square">
            <a:spAutoFit/>
          </a:bodyPr>
          <a:lstStyle/>
          <a:p>
            <a:pPr>
              <a:spcAft>
                <a:spcPts val="300"/>
              </a:spcAft>
              <a:defRPr sz="1300" b="1">
                <a:solidFill>
                  <a:srgbClr val="2563EB"/>
                </a:solidFill>
              </a:defRPr>
            </a:pPr>
            <a:r>
              <a:t>STAGE 1: DOCUMENT INGESTION &amp; CHUNKING</a:t>
            </a:r>
          </a:p>
          <a:p>
            <a:pPr>
              <a:defRPr sz="1050">
                <a:solidFill>
                  <a:srgbClr val="0F172A"/>
                </a:solidFill>
              </a:defRPr>
            </a:pPr>
            <a:r>
              <a:t>• Parsing: Ingests unstructured academic PDFs, TXT, and Markdown files via PyPDF and TextLoader</a:t>
            </a:r>
            <a:br/>
            <a:r>
              <a:t>• Chunking: RecursiveCharacterTextSplitter with chunk_size = 800 characters and chunk_overlap = 150 characters</a:t>
            </a:r>
            <a:br/>
            <a:r>
              <a:t>• Metadata Tagging: Attaches source filename, page index, and character spans for verifiable citations</a:t>
            </a:r>
          </a:p>
        </p:txBody>
      </p:sp>
      <p:sp>
        <p:nvSpPr>
          <p:cNvPr id="9" name="Rounded Rectangle 8"/>
          <p:cNvSpPr/>
          <p:nvPr/>
        </p:nvSpPr>
        <p:spPr>
          <a:xfrm>
            <a:off x="731520" y="2770632"/>
            <a:ext cx="10728655" cy="1051560"/>
          </a:xfrm>
          <a:prstGeom prst="roundRect">
            <a:avLst/>
          </a:prstGeom>
          <a:solidFill>
            <a:srgbClr val="FFFFFF"/>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2770632"/>
            <a:ext cx="164592" cy="105156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862072"/>
            <a:ext cx="10149840" cy="868680"/>
          </a:xfrm>
          <a:prstGeom prst="rect">
            <a:avLst/>
          </a:prstGeom>
          <a:noFill/>
        </p:spPr>
        <p:txBody>
          <a:bodyPr wrap="square">
            <a:spAutoFit/>
          </a:bodyPr>
          <a:lstStyle/>
          <a:p>
            <a:pPr>
              <a:spcAft>
                <a:spcPts val="300"/>
              </a:spcAft>
              <a:defRPr sz="1300" b="1">
                <a:solidFill>
                  <a:srgbClr val="0D9488"/>
                </a:solidFill>
              </a:defRPr>
            </a:pPr>
            <a:r>
              <a:t>STAGE 2: MULTI-QUERY EXPANSION (LLM-POWERED)</a:t>
            </a:r>
          </a:p>
          <a:p>
            <a:pPr>
              <a:defRPr sz="1050">
                <a:solidFill>
                  <a:srgbClr val="0F172A"/>
                </a:solidFill>
              </a:defRPr>
            </a:pPr>
            <a:r>
              <a:t>• Overcomes vocabulary mismatch and sparse student queries (e.g. 'explain gradients')</a:t>
            </a:r>
            <a:br/>
            <a:r>
              <a:t>• Prompts Claude to synthesize 3 alternative query formulations from distinct academic angles</a:t>
            </a:r>
            <a:br/>
            <a:r>
              <a:t>• Multi-perspective query batch: [Original_Query, Variant_1, Variant_2, Variant_3]</a:t>
            </a:r>
          </a:p>
        </p:txBody>
      </p:sp>
      <p:sp>
        <p:nvSpPr>
          <p:cNvPr id="12" name="Rounded Rectangle 11"/>
          <p:cNvSpPr/>
          <p:nvPr/>
        </p:nvSpPr>
        <p:spPr>
          <a:xfrm>
            <a:off x="731520" y="3986784"/>
            <a:ext cx="10728655" cy="1051560"/>
          </a:xfrm>
          <a:prstGeom prst="roundRect">
            <a:avLst/>
          </a:prstGeom>
          <a:solidFill>
            <a:srgbClr val="FFFFFF"/>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3986784"/>
            <a:ext cx="164592" cy="105156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4078224"/>
            <a:ext cx="10149840" cy="868680"/>
          </a:xfrm>
          <a:prstGeom prst="rect">
            <a:avLst/>
          </a:prstGeom>
          <a:noFill/>
        </p:spPr>
        <p:txBody>
          <a:bodyPr wrap="square">
            <a:spAutoFit/>
          </a:bodyPr>
          <a:lstStyle/>
          <a:p>
            <a:pPr>
              <a:spcAft>
                <a:spcPts val="300"/>
              </a:spcAft>
              <a:defRPr sz="1300" b="1">
                <a:solidFill>
                  <a:srgbClr val="7C3AED"/>
                </a:solidFill>
              </a:defRPr>
            </a:pPr>
            <a:r>
              <a:t>STAGE 3: DUAL-INDEX HYBRID RETRIEVAL</a:t>
            </a:r>
          </a:p>
          <a:p>
            <a:pPr>
              <a:defRPr sz="1050">
                <a:solidFill>
                  <a:srgbClr val="0F172A"/>
                </a:solidFill>
              </a:defRPr>
            </a:pPr>
            <a:r>
              <a:t>• Dense Semantic Index: FAISS (Facebook AI Similarity Search) with `all-MiniLM-L6-v2` embeddings</a:t>
            </a:r>
            <a:br/>
            <a:r>
              <a:t>• Sparse Lexical Index: BM25Okapi scoring keyword frequency, exact terminology, and technical symbols</a:t>
            </a:r>
            <a:br/>
            <a:r>
              <a:t>• Dual-engine coverage captures both conceptual paraphrases (dense) and strict keyword identifiers (sparse)</a:t>
            </a:r>
          </a:p>
        </p:txBody>
      </p:sp>
      <p:sp>
        <p:nvSpPr>
          <p:cNvPr id="15" name="Rounded Rectangle 14"/>
          <p:cNvSpPr/>
          <p:nvPr/>
        </p:nvSpPr>
        <p:spPr>
          <a:xfrm>
            <a:off x="731520" y="5202936"/>
            <a:ext cx="10728655" cy="1051560"/>
          </a:xfrm>
          <a:prstGeom prst="roundRect">
            <a:avLst/>
          </a:prstGeom>
          <a:solidFill>
            <a:srgbClr val="FFFFFF"/>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1520" y="5202936"/>
            <a:ext cx="164592" cy="105156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5294376"/>
            <a:ext cx="10149840" cy="868680"/>
          </a:xfrm>
          <a:prstGeom prst="rect">
            <a:avLst/>
          </a:prstGeom>
          <a:noFill/>
        </p:spPr>
        <p:txBody>
          <a:bodyPr wrap="square">
            <a:spAutoFit/>
          </a:bodyPr>
          <a:lstStyle/>
          <a:p>
            <a:pPr>
              <a:spcAft>
                <a:spcPts val="300"/>
              </a:spcAft>
              <a:defRPr sz="1300" b="1">
                <a:solidFill>
                  <a:srgbClr val="D97706"/>
                </a:solidFill>
              </a:defRPr>
            </a:pPr>
            <a:r>
              <a:t>STAGE 4: RECIPROCAL RANK FUSION (RRF) &amp; GROUNDED SYNTHESIS</a:t>
            </a:r>
          </a:p>
          <a:p>
            <a:pPr>
              <a:defRPr sz="1050">
                <a:solidFill>
                  <a:srgbClr val="0F172A"/>
                </a:solidFill>
              </a:defRPr>
            </a:pPr>
            <a:r>
              <a:t>• Rank Aggregation formula: Score(d) = λ / (60 + DenseRank(d)) + (1 - λ) / (60 + SparseRank(d))</a:t>
            </a:r>
            <a:br/>
            <a:r>
              <a:t>• Balance Factor λ = 0.6 (60% dense vector weight, 40% lexical BM25 weight)</a:t>
            </a:r>
            <a:br/>
            <a:r>
              <a:t>• Grounded Generation: Injects top-k fused chunks into Research Agent prompt; cites source headers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lIns="0" tIns="0" rIns="0" bIns="0">
            <a:spAutoFit/>
          </a:bodyPr>
          <a:lstStyle/>
          <a:p>
            <a:pPr>
              <a:defRPr sz="1000" b="1">
                <a:solidFill>
                  <a:srgbClr val="2563EB"/>
                </a:solidFill>
              </a:defRPr>
            </a:pPr>
            <a:r>
              <a:t>PEDAGOGICAL INTELLIGENCE</a:t>
            </a:r>
          </a:p>
        </p:txBody>
      </p:sp>
      <p:sp>
        <p:nvSpPr>
          <p:cNvPr id="4" name="TextBox 3"/>
          <p:cNvSpPr txBox="1"/>
          <p:nvPr/>
        </p:nvSpPr>
        <p:spPr>
          <a:xfrm>
            <a:off x="731520" y="658368"/>
            <a:ext cx="10728655" cy="594360"/>
          </a:xfrm>
          <a:prstGeom prst="rect">
            <a:avLst/>
          </a:prstGeom>
          <a:noFill/>
        </p:spPr>
        <p:txBody>
          <a:bodyPr wrap="square" lIns="0" tIns="0" rIns="0" bIns="0">
            <a:spAutoFit/>
          </a:bodyPr>
          <a:lstStyle/>
          <a:p>
            <a:pPr>
              <a:defRPr sz="2200" b="1">
                <a:solidFill>
                  <a:srgbClr val="0F172A"/>
                </a:solidFill>
              </a:defRPr>
            </a:pPr>
            <a:r>
              <a:t>Socratic Tutoring &amp; Formative Assessment Engine</a:t>
            </a:r>
          </a:p>
        </p:txBody>
      </p:sp>
      <p:sp>
        <p:nvSpPr>
          <p:cNvPr id="5" name="Rectangle 4"/>
          <p:cNvSpPr/>
          <p:nvPr/>
        </p:nvSpPr>
        <p:spPr>
          <a:xfrm>
            <a:off x="731520" y="12984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554480"/>
            <a:ext cx="512064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737360"/>
            <a:ext cx="4663440" cy="4389120"/>
          </a:xfrm>
          <a:prstGeom prst="rect">
            <a:avLst/>
          </a:prstGeom>
          <a:noFill/>
        </p:spPr>
        <p:txBody>
          <a:bodyPr wrap="square">
            <a:spAutoFit/>
          </a:bodyPr>
          <a:lstStyle/>
          <a:p>
            <a:pPr>
              <a:spcAft>
                <a:spcPts val="1200"/>
              </a:spcAft>
              <a:defRPr sz="1500" b="1">
                <a:solidFill>
                  <a:srgbClr val="0D9488"/>
                </a:solidFill>
              </a:defRPr>
            </a:pPr>
            <a:r>
              <a:t>Socratic Tutoring Methodology</a:t>
            </a:r>
          </a:p>
          <a:p>
            <a:pPr>
              <a:defRPr sz="1200" b="1">
                <a:solidFill>
                  <a:srgbClr val="0F172A"/>
                </a:solidFill>
              </a:defRPr>
            </a:pPr>
            <a:r>
              <a:t>• Inquiry-Led Explanations</a:t>
            </a:r>
          </a:p>
          <a:p>
            <a:pPr>
              <a:spcAft>
                <a:spcPts val="800"/>
              </a:spcAft>
              <a:defRPr sz="1050">
                <a:solidFill>
                  <a:srgbClr val="475569"/>
                </a:solidFill>
              </a:defRPr>
            </a:pPr>
            <a:r>
              <a:t>   Avoids flat answer dumps; scaffolds learning by asking probing questions that guide the student toward discovery.</a:t>
            </a:r>
          </a:p>
          <a:p>
            <a:pPr>
              <a:defRPr sz="1200" b="1">
                <a:solidFill>
                  <a:srgbClr val="0F172A"/>
                </a:solidFill>
              </a:defRPr>
            </a:pPr>
            <a:r>
              <a:t>• Intuition &amp; Concrete Analogies</a:t>
            </a:r>
          </a:p>
          <a:p>
            <a:pPr>
              <a:spcAft>
                <a:spcPts val="800"/>
              </a:spcAft>
              <a:defRPr sz="1050">
                <a:solidFill>
                  <a:srgbClr val="475569"/>
                </a:solidFill>
              </a:defRPr>
            </a:pPr>
            <a:r>
              <a:t>   Translates abstract mathematical and algorithmic principles into intuitive physical or day-to-day metaphors.</a:t>
            </a:r>
          </a:p>
          <a:p>
            <a:pPr>
              <a:defRPr sz="1200" b="1">
                <a:solidFill>
                  <a:srgbClr val="0F172A"/>
                </a:solidFill>
              </a:defRPr>
            </a:pPr>
            <a:r>
              <a:t>• Level-Adaptive Modulation</a:t>
            </a:r>
          </a:p>
          <a:p>
            <a:pPr>
              <a:spcAft>
                <a:spcPts val="800"/>
              </a:spcAft>
              <a:defRPr sz="1050">
                <a:solidFill>
                  <a:srgbClr val="475569"/>
                </a:solidFill>
              </a:defRPr>
            </a:pPr>
            <a:r>
              <a:t>   Dynamically adjusts vocabulary, complexity, and rigorous proofs based on whether the student is Beginner, Intermediate, or Advanced.</a:t>
            </a:r>
          </a:p>
          <a:p>
            <a:pPr>
              <a:defRPr sz="1200" b="1">
                <a:solidFill>
                  <a:srgbClr val="0F172A"/>
                </a:solidFill>
              </a:defRPr>
            </a:pPr>
            <a:r>
              <a:t>• Comprehension Checkpoints</a:t>
            </a:r>
          </a:p>
          <a:p>
            <a:pPr>
              <a:spcAft>
                <a:spcPts val="800"/>
              </a:spcAft>
              <a:defRPr sz="1050">
                <a:solidFill>
                  <a:srgbClr val="475569"/>
                </a:solidFill>
              </a:defRPr>
            </a:pPr>
            <a:r>
              <a:t>   Concludes explanation turns with quick reflection questions to verify conceptual retention before advancing.</a:t>
            </a:r>
          </a:p>
        </p:txBody>
      </p:sp>
      <p:sp>
        <p:nvSpPr>
          <p:cNvPr id="8" name="Rounded Rectangle 7"/>
          <p:cNvSpPr/>
          <p:nvPr/>
        </p:nvSpPr>
        <p:spPr>
          <a:xfrm>
            <a:off x="6217920" y="1554480"/>
            <a:ext cx="5120640" cy="4754880"/>
          </a:xfrm>
          <a:prstGeom prst="roundRect">
            <a:avLst/>
          </a:prstGeom>
          <a:solidFill>
            <a:srgbClr val="FEF2F2"/>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737360"/>
            <a:ext cx="4663440" cy="4389120"/>
          </a:xfrm>
          <a:prstGeom prst="rect">
            <a:avLst/>
          </a:prstGeom>
          <a:noFill/>
        </p:spPr>
        <p:txBody>
          <a:bodyPr wrap="square">
            <a:spAutoFit/>
          </a:bodyPr>
          <a:lstStyle/>
          <a:p>
            <a:pPr>
              <a:spcAft>
                <a:spcPts val="1200"/>
              </a:spcAft>
              <a:defRPr sz="1500" b="1">
                <a:solidFill>
                  <a:srgbClr val="DC2626"/>
                </a:solidFill>
              </a:defRPr>
            </a:pPr>
            <a:r>
              <a:t>Automated Evaluation &amp; Rubrics</a:t>
            </a:r>
          </a:p>
          <a:p>
            <a:pPr>
              <a:defRPr sz="1200" b="1">
                <a:solidFill>
                  <a:srgbClr val="0F172A"/>
                </a:solidFill>
              </a:defRPr>
            </a:pPr>
            <a:r>
              <a:t>✔ Structured Multi-Dimensional Grading</a:t>
            </a:r>
          </a:p>
          <a:p>
            <a:pPr>
              <a:spcAft>
                <a:spcPts val="800"/>
              </a:spcAft>
              <a:defRPr sz="1050">
                <a:solidFill>
                  <a:srgbClr val="475569"/>
                </a:solidFill>
              </a:defRPr>
            </a:pPr>
            <a:r>
              <a:t>   Parses answers into 0–10 numeric scores, percentage conversions, and letter grades (A+, A, B, C, D, F).</a:t>
            </a:r>
          </a:p>
          <a:p>
            <a:pPr>
              <a:defRPr sz="1200" b="1">
                <a:solidFill>
                  <a:srgbClr val="0F172A"/>
                </a:solidFill>
              </a:defRPr>
            </a:pPr>
            <a:r>
              <a:t>✔ Identified Strengths &amp; Deficiencies</a:t>
            </a:r>
          </a:p>
          <a:p>
            <a:pPr>
              <a:spcAft>
                <a:spcPts val="800"/>
              </a:spcAft>
              <a:defRPr sz="1050">
                <a:solidFill>
                  <a:srgbClr val="475569"/>
                </a:solidFill>
              </a:defRPr>
            </a:pPr>
            <a:r>
              <a:t>   Extracts bulleted conceptual highlights that the student mastered, along with specific gaps or misconceptions.</a:t>
            </a:r>
          </a:p>
          <a:p>
            <a:pPr>
              <a:defRPr sz="1200" b="1">
                <a:solidFill>
                  <a:srgbClr val="0F172A"/>
                </a:solidFill>
              </a:defRPr>
            </a:pPr>
            <a:r>
              <a:t>✔ Exemplary Model Answers</a:t>
            </a:r>
          </a:p>
          <a:p>
            <a:pPr>
              <a:spcAft>
                <a:spcPts val="800"/>
              </a:spcAft>
              <a:defRPr sz="1050">
                <a:solidFill>
                  <a:srgbClr val="475569"/>
                </a:solidFill>
              </a:defRPr>
            </a:pPr>
            <a:r>
              <a:t>   Synthesizes an ideal reference answer demonstrating optimal mathematical rigor or code efficiency.</a:t>
            </a:r>
          </a:p>
          <a:p>
            <a:pPr>
              <a:defRPr sz="1200" b="1">
                <a:solidFill>
                  <a:srgbClr val="0F172A"/>
                </a:solidFill>
              </a:defRPr>
            </a:pPr>
            <a:r>
              <a:t>✔ Actionable Pedagogical Next Steps</a:t>
            </a:r>
          </a:p>
          <a:p>
            <a:pPr>
              <a:spcAft>
                <a:spcPts val="800"/>
              </a:spcAft>
              <a:defRPr sz="1050">
                <a:solidFill>
                  <a:srgbClr val="475569"/>
                </a:solidFill>
              </a:defRPr>
            </a:pPr>
            <a:r>
              <a:t>   Provides 3 targeted exercises or recommended review topics to bridge identified knowledge deficits.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lIns="0" tIns="0" rIns="0" bIns="0">
            <a:spAutoFit/>
          </a:bodyPr>
          <a:lstStyle/>
          <a:p>
            <a:pPr>
              <a:defRPr sz="1000" b="1">
                <a:solidFill>
                  <a:srgbClr val="2563EB"/>
                </a:solidFill>
              </a:defRPr>
            </a:pPr>
            <a:r>
              <a:t>ADAPTIVE LEARNING TOOLS</a:t>
            </a:r>
          </a:p>
        </p:txBody>
      </p:sp>
      <p:sp>
        <p:nvSpPr>
          <p:cNvPr id="4" name="TextBox 3"/>
          <p:cNvSpPr txBox="1"/>
          <p:nvPr/>
        </p:nvSpPr>
        <p:spPr>
          <a:xfrm>
            <a:off x="731520" y="658368"/>
            <a:ext cx="10728655" cy="594360"/>
          </a:xfrm>
          <a:prstGeom prst="rect">
            <a:avLst/>
          </a:prstGeom>
          <a:noFill/>
        </p:spPr>
        <p:txBody>
          <a:bodyPr wrap="square" lIns="0" tIns="0" rIns="0" bIns="0">
            <a:spAutoFit/>
          </a:bodyPr>
          <a:lstStyle/>
          <a:p>
            <a:pPr>
              <a:defRPr sz="2200" b="1">
                <a:solidFill>
                  <a:srgbClr val="0F172A"/>
                </a:solidFill>
              </a:defRPr>
            </a:pPr>
            <a:r>
              <a:t>Automated Curriculum Synthesis &amp; Adaptive Quiz Studio</a:t>
            </a:r>
          </a:p>
        </p:txBody>
      </p:sp>
      <p:sp>
        <p:nvSpPr>
          <p:cNvPr id="5" name="Rectangle 4"/>
          <p:cNvSpPr/>
          <p:nvPr/>
        </p:nvSpPr>
        <p:spPr>
          <a:xfrm>
            <a:off x="731520" y="12984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554480"/>
            <a:ext cx="5120640" cy="4754880"/>
          </a:xfrm>
          <a:prstGeom prst="roundRect">
            <a:avLst/>
          </a:prstGeom>
          <a:solidFill>
            <a:srgbClr val="FFFFFF"/>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737360"/>
            <a:ext cx="4663440" cy="4389120"/>
          </a:xfrm>
          <a:prstGeom prst="rect">
            <a:avLst/>
          </a:prstGeom>
          <a:noFill/>
        </p:spPr>
        <p:txBody>
          <a:bodyPr wrap="square">
            <a:spAutoFit/>
          </a:bodyPr>
          <a:lstStyle/>
          <a:p>
            <a:pPr>
              <a:spcAft>
                <a:spcPts val="1200"/>
              </a:spcAft>
              <a:defRPr sz="1500" b="1">
                <a:solidFill>
                  <a:srgbClr val="7C3AED"/>
                </a:solidFill>
              </a:defRPr>
            </a:pPr>
            <a:r>
              <a:t>Curriculum Agent: Personalized Roadmaps</a:t>
            </a:r>
          </a:p>
          <a:p>
            <a:pPr>
              <a:defRPr sz="1200" b="1">
                <a:solidFill>
                  <a:srgbClr val="0F172A"/>
                </a:solidFill>
              </a:defRPr>
            </a:pPr>
            <a:r>
              <a:t>◈ Modular Temporal Scaffolding</a:t>
            </a:r>
          </a:p>
          <a:p>
            <a:pPr>
              <a:spcAft>
                <a:spcPts val="800"/>
              </a:spcAft>
              <a:defRPr sz="1050">
                <a:solidFill>
                  <a:srgbClr val="475569"/>
                </a:solidFill>
              </a:defRPr>
            </a:pPr>
            <a:r>
              <a:t>   Builds week-by-week structured progression plans tailored to time constraints and target mastery.</a:t>
            </a:r>
          </a:p>
          <a:p>
            <a:pPr>
              <a:defRPr sz="1200" b="1">
                <a:solidFill>
                  <a:srgbClr val="0F172A"/>
                </a:solidFill>
              </a:defRPr>
            </a:pPr>
            <a:r>
              <a:t>◈ Prerequisite Dependency Mapping</a:t>
            </a:r>
          </a:p>
          <a:p>
            <a:pPr>
              <a:spcAft>
                <a:spcPts val="800"/>
              </a:spcAft>
              <a:defRPr sz="1050">
                <a:solidFill>
                  <a:srgbClr val="475569"/>
                </a:solidFill>
              </a:defRPr>
            </a:pPr>
            <a:r>
              <a:t>   Verifies baseline foundations before introducing advanced theorems (e.g. Linear Algebra before PCA).</a:t>
            </a:r>
          </a:p>
          <a:p>
            <a:pPr>
              <a:defRPr sz="1200" b="1">
                <a:solidFill>
                  <a:srgbClr val="0F172A"/>
                </a:solidFill>
              </a:defRPr>
            </a:pPr>
            <a:r>
              <a:t>◈ Milestones &amp; Capstones</a:t>
            </a:r>
          </a:p>
          <a:p>
            <a:pPr>
              <a:spcAft>
                <a:spcPts val="800"/>
              </a:spcAft>
              <a:defRPr sz="1050">
                <a:solidFill>
                  <a:srgbClr val="475569"/>
                </a:solidFill>
              </a:defRPr>
            </a:pPr>
            <a:r>
              <a:t>   Integrates periodic hands-on milestones, laboratory assignments, and project deliverables.</a:t>
            </a:r>
          </a:p>
          <a:p>
            <a:pPr>
              <a:defRPr sz="1200" b="1">
                <a:solidFill>
                  <a:srgbClr val="0F172A"/>
                </a:solidFill>
              </a:defRPr>
            </a:pPr>
            <a:r>
              <a:t>◈ Curated Reference Matrix</a:t>
            </a:r>
          </a:p>
          <a:p>
            <a:pPr>
              <a:spcAft>
                <a:spcPts val="800"/>
              </a:spcAft>
              <a:defRPr sz="1050">
                <a:solidFill>
                  <a:srgbClr val="475569"/>
                </a:solidFill>
              </a:defRPr>
            </a:pPr>
            <a:r>
              <a:t>   Recommends textbook chapters, academic papers, and online open-courseware modules.</a:t>
            </a:r>
          </a:p>
        </p:txBody>
      </p:sp>
      <p:sp>
        <p:nvSpPr>
          <p:cNvPr id="8" name="Rounded Rectangle 7"/>
          <p:cNvSpPr/>
          <p:nvPr/>
        </p:nvSpPr>
        <p:spPr>
          <a:xfrm>
            <a:off x="6217920" y="1554480"/>
            <a:ext cx="5120640" cy="4754880"/>
          </a:xfrm>
          <a:prstGeom prst="roundRect">
            <a:avLst/>
          </a:prstGeom>
          <a:solidFill>
            <a:srgbClr val="FFFFFF"/>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737360"/>
            <a:ext cx="4663440" cy="4389120"/>
          </a:xfrm>
          <a:prstGeom prst="rect">
            <a:avLst/>
          </a:prstGeom>
          <a:noFill/>
        </p:spPr>
        <p:txBody>
          <a:bodyPr wrap="square">
            <a:spAutoFit/>
          </a:bodyPr>
          <a:lstStyle/>
          <a:p>
            <a:pPr>
              <a:spcAft>
                <a:spcPts val="1200"/>
              </a:spcAft>
              <a:defRPr sz="1500" b="1">
                <a:solidFill>
                  <a:srgbClr val="D97706"/>
                </a:solidFill>
              </a:defRPr>
            </a:pPr>
            <a:r>
              <a:t>Quiz Agent: Adaptive Quiz Studio</a:t>
            </a:r>
          </a:p>
          <a:p>
            <a:pPr>
              <a:defRPr sz="1200" b="1">
                <a:solidFill>
                  <a:srgbClr val="0F172A"/>
                </a:solidFill>
              </a:defRPr>
            </a:pPr>
            <a:r>
              <a:t>◈ Dynamic Difficulty Distribution</a:t>
            </a:r>
          </a:p>
          <a:p>
            <a:pPr>
              <a:spcAft>
                <a:spcPts val="800"/>
              </a:spcAft>
              <a:defRPr sz="1050">
                <a:solidFill>
                  <a:srgbClr val="475569"/>
                </a:solidFill>
              </a:defRPr>
            </a:pPr>
            <a:r>
              <a:t>   Calibrated question mix ensures high discriminatory index: 30% Easy, 50% Medium, 20% Hard.</a:t>
            </a:r>
          </a:p>
          <a:p>
            <a:pPr>
              <a:defRPr sz="1200" b="1">
                <a:solidFill>
                  <a:srgbClr val="0F172A"/>
                </a:solidFill>
              </a:defRPr>
            </a:pPr>
            <a:r>
              <a:t>◈ Multi-Modal Question Typology</a:t>
            </a:r>
          </a:p>
          <a:p>
            <a:pPr>
              <a:spcAft>
                <a:spcPts val="800"/>
              </a:spcAft>
              <a:defRPr sz="1050">
                <a:solidFill>
                  <a:srgbClr val="475569"/>
                </a:solidFill>
              </a:defRPr>
            </a:pPr>
            <a:r>
              <a:t>   Supports Multiple Choice Questions (MCQs with 4 plausible distractors) and Short-Answer questions.</a:t>
            </a:r>
          </a:p>
          <a:p>
            <a:pPr>
              <a:defRPr sz="1200" b="1">
                <a:solidFill>
                  <a:srgbClr val="0F172A"/>
                </a:solidFill>
              </a:defRPr>
            </a:pPr>
            <a:r>
              <a:t>◈ Instant Self-Correction &amp; Insights</a:t>
            </a:r>
          </a:p>
          <a:p>
            <a:pPr>
              <a:spcAft>
                <a:spcPts val="800"/>
              </a:spcAft>
              <a:defRPr sz="1050">
                <a:solidFill>
                  <a:srgbClr val="475569"/>
                </a:solidFill>
              </a:defRPr>
            </a:pPr>
            <a:r>
              <a:t>   Instant auto-reveal functionality displays correct answers and thorough conceptual rationale.</a:t>
            </a:r>
          </a:p>
          <a:p>
            <a:pPr>
              <a:defRPr sz="1200" b="1">
                <a:solidFill>
                  <a:srgbClr val="0F172A"/>
                </a:solidFill>
              </a:defRPr>
            </a:pPr>
            <a:r>
              <a:t>◈ JSON Schema Enforcement</a:t>
            </a:r>
          </a:p>
          <a:p>
            <a:pPr>
              <a:spcAft>
                <a:spcPts val="800"/>
              </a:spcAft>
              <a:defRPr sz="1050">
                <a:solidFill>
                  <a:srgbClr val="475569"/>
                </a:solidFill>
              </a:defRPr>
            </a:pPr>
            <a:r>
              <a:t>   Strict Pydantic/JSON parsing with robust regex fallback guarantees deterministic UI rendering.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lIns="0" tIns="0" rIns="0" bIns="0">
            <a:spAutoFit/>
          </a:bodyPr>
          <a:lstStyle/>
          <a:p>
            <a:pPr>
              <a:defRPr sz="1000" b="1">
                <a:solidFill>
                  <a:srgbClr val="2563EB"/>
                </a:solidFill>
              </a:defRPr>
            </a:pPr>
            <a:r>
              <a:t>USER EXPERIENCE &amp; UI</a:t>
            </a:r>
          </a:p>
        </p:txBody>
      </p:sp>
      <p:sp>
        <p:nvSpPr>
          <p:cNvPr id="4" name="TextBox 3"/>
          <p:cNvSpPr txBox="1"/>
          <p:nvPr/>
        </p:nvSpPr>
        <p:spPr>
          <a:xfrm>
            <a:off x="731520" y="658368"/>
            <a:ext cx="10728655" cy="594360"/>
          </a:xfrm>
          <a:prstGeom prst="rect">
            <a:avLst/>
          </a:prstGeom>
          <a:noFill/>
        </p:spPr>
        <p:txBody>
          <a:bodyPr wrap="square" lIns="0" tIns="0" rIns="0" bIns="0">
            <a:spAutoFit/>
          </a:bodyPr>
          <a:lstStyle/>
          <a:p>
            <a:pPr>
              <a:defRPr sz="2200" b="1">
                <a:solidFill>
                  <a:srgbClr val="0F172A"/>
                </a:solidFill>
              </a:defRPr>
            </a:pPr>
            <a:r>
              <a:t>Streamlit Interface, Session State &amp; Interactive Views</a:t>
            </a:r>
          </a:p>
        </p:txBody>
      </p:sp>
      <p:sp>
        <p:nvSpPr>
          <p:cNvPr id="5" name="Rectangle 4"/>
          <p:cNvSpPr/>
          <p:nvPr/>
        </p:nvSpPr>
        <p:spPr>
          <a:xfrm>
            <a:off x="731520" y="12984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00200"/>
            <a:ext cx="5120640" cy="2240280"/>
          </a:xfrm>
          <a:prstGeom prst="roundRect">
            <a:avLst/>
          </a:prstGeom>
          <a:solidFill>
            <a:srgbClr val="FFFF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37360"/>
            <a:ext cx="4754880" cy="1965960"/>
          </a:xfrm>
          <a:prstGeom prst="rect">
            <a:avLst/>
          </a:prstGeom>
          <a:noFill/>
        </p:spPr>
        <p:txBody>
          <a:bodyPr wrap="square">
            <a:spAutoFit/>
          </a:bodyPr>
          <a:lstStyle/>
          <a:p>
            <a:pPr>
              <a:spcAft>
                <a:spcPts val="600"/>
              </a:spcAft>
              <a:defRPr sz="1300" b="1">
                <a:solidFill>
                  <a:srgbClr val="2563EB"/>
                </a:solidFill>
              </a:defRPr>
            </a:pPr>
            <a:r>
              <a:t>Global Sidebar Controls</a:t>
            </a:r>
          </a:p>
          <a:p>
            <a:pPr>
              <a:defRPr sz="1050">
                <a:solidFill>
                  <a:srgbClr val="0F172A"/>
                </a:solidFill>
              </a:defRPr>
            </a:pPr>
            <a:r>
              <a:t>• API key configuration with local persistence</a:t>
            </a:r>
            <a:br/>
            <a:r>
              <a:t>• Real-time Subject picker &amp; Mastery level toggles</a:t>
            </a:r>
            <a:br/>
            <a:r>
              <a:t>• PDF/TXT lecture notes drag-and-drop uploader</a:t>
            </a:r>
            <a:br/>
            <a:r>
              <a:t>• Live Agent usage telemetry &amp; session counters</a:t>
            </a:r>
          </a:p>
        </p:txBody>
      </p:sp>
      <p:sp>
        <p:nvSpPr>
          <p:cNvPr id="8" name="Rounded Rectangle 7"/>
          <p:cNvSpPr/>
          <p:nvPr/>
        </p:nvSpPr>
        <p:spPr>
          <a:xfrm>
            <a:off x="6339535" y="1600200"/>
            <a:ext cx="5120640" cy="2240280"/>
          </a:xfrm>
          <a:prstGeom prst="roundRect">
            <a:avLst/>
          </a:prstGeom>
          <a:solidFill>
            <a:srgbClr val="FFFFFF"/>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22415" y="1737360"/>
            <a:ext cx="4754880" cy="1965960"/>
          </a:xfrm>
          <a:prstGeom prst="rect">
            <a:avLst/>
          </a:prstGeom>
          <a:noFill/>
        </p:spPr>
        <p:txBody>
          <a:bodyPr wrap="square">
            <a:spAutoFit/>
          </a:bodyPr>
          <a:lstStyle/>
          <a:p>
            <a:pPr>
              <a:spcAft>
                <a:spcPts val="600"/>
              </a:spcAft>
              <a:defRPr sz="1300" b="1">
                <a:solidFill>
                  <a:srgbClr val="0D9488"/>
                </a:solidFill>
              </a:defRPr>
            </a:pPr>
            <a:r>
              <a:t>Socratic Chat Hub</a:t>
            </a:r>
          </a:p>
          <a:p>
            <a:pPr>
              <a:defRPr sz="1050">
                <a:solidFill>
                  <a:srgbClr val="0F172A"/>
                </a:solidFill>
              </a:defRPr>
            </a:pPr>
            <a:r>
              <a:t>• Conversational chat stream with role badges</a:t>
            </a:r>
            <a:br/>
            <a:r>
              <a:t>• Colored agent badges showing who generated each turn</a:t>
            </a:r>
            <a:br/>
            <a:r>
              <a:t>• Message history memory across session interactions</a:t>
            </a:r>
            <a:br/>
            <a:r>
              <a:t>• Markdown rendering with LaTeX math equations</a:t>
            </a:r>
          </a:p>
        </p:txBody>
      </p:sp>
      <p:sp>
        <p:nvSpPr>
          <p:cNvPr id="10" name="Rounded Rectangle 9"/>
          <p:cNvSpPr/>
          <p:nvPr/>
        </p:nvSpPr>
        <p:spPr>
          <a:xfrm>
            <a:off x="731520" y="4069080"/>
            <a:ext cx="5120640" cy="2240280"/>
          </a:xfrm>
          <a:prstGeom prst="roundRect">
            <a:avLst/>
          </a:prstGeom>
          <a:solidFill>
            <a:srgbClr val="FFFFFF"/>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206240"/>
            <a:ext cx="4754880" cy="1965960"/>
          </a:xfrm>
          <a:prstGeom prst="rect">
            <a:avLst/>
          </a:prstGeom>
          <a:noFill/>
        </p:spPr>
        <p:txBody>
          <a:bodyPr wrap="square">
            <a:spAutoFit/>
          </a:bodyPr>
          <a:lstStyle/>
          <a:p>
            <a:pPr>
              <a:spcAft>
                <a:spcPts val="600"/>
              </a:spcAft>
              <a:defRPr sz="1300" b="1">
                <a:solidFill>
                  <a:srgbClr val="7C3AED"/>
                </a:solidFill>
              </a:defRPr>
            </a:pPr>
            <a:r>
              <a:t>Interactive Quiz Studio</a:t>
            </a:r>
          </a:p>
          <a:p>
            <a:pPr>
              <a:defRPr sz="1050">
                <a:solidFill>
                  <a:srgbClr val="0F172A"/>
                </a:solidFill>
              </a:defRPr>
            </a:pPr>
            <a:r>
              <a:t>• Instant quiz generation by subject and topic</a:t>
            </a:r>
            <a:br/>
            <a:r>
              <a:t>• Interactive radio-button selection for MCQs</a:t>
            </a:r>
            <a:br/>
            <a:r>
              <a:t>• Score calculation with instant visual feedback</a:t>
            </a:r>
            <a:br/>
            <a:r>
              <a:t>• Comprehensive answer reveal with full rationale</a:t>
            </a:r>
          </a:p>
        </p:txBody>
      </p:sp>
      <p:sp>
        <p:nvSpPr>
          <p:cNvPr id="12" name="Rounded Rectangle 11"/>
          <p:cNvSpPr/>
          <p:nvPr/>
        </p:nvSpPr>
        <p:spPr>
          <a:xfrm>
            <a:off x="6339535" y="4069080"/>
            <a:ext cx="5120640" cy="2240280"/>
          </a:xfrm>
          <a:prstGeom prst="roundRect">
            <a:avLst/>
          </a:prstGeom>
          <a:solidFill>
            <a:srgbClr val="FFFFFF"/>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22415" y="4206240"/>
            <a:ext cx="4754880" cy="1965960"/>
          </a:xfrm>
          <a:prstGeom prst="rect">
            <a:avLst/>
          </a:prstGeom>
          <a:noFill/>
        </p:spPr>
        <p:txBody>
          <a:bodyPr wrap="square">
            <a:spAutoFit/>
          </a:bodyPr>
          <a:lstStyle/>
          <a:p>
            <a:pPr>
              <a:spcAft>
                <a:spcPts val="600"/>
              </a:spcAft>
              <a:defRPr sz="1300" b="1">
                <a:solidFill>
                  <a:srgbClr val="D97706"/>
                </a:solidFill>
              </a:defRPr>
            </a:pPr>
            <a:r>
              <a:t>Document Research Hub</a:t>
            </a:r>
          </a:p>
          <a:p>
            <a:pPr>
              <a:defRPr sz="1050">
                <a:solidFill>
                  <a:srgbClr val="0F172A"/>
                </a:solidFill>
              </a:defRPr>
            </a:pPr>
            <a:r>
              <a:t>• Knowledge base status indicator (chunks loaded)</a:t>
            </a:r>
            <a:br/>
            <a:r>
              <a:t>• Deep RAG query portal querying custom notes</a:t>
            </a:r>
            <a:br/>
            <a:r>
              <a:t>• Transparent source document citations &amp; page refs</a:t>
            </a:r>
            <a:br/>
            <a:r>
              <a:t>• General knowledge fallback when notes lack coverage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lIns="0" tIns="0" rIns="0" bIns="0">
            <a:spAutoFit/>
          </a:bodyPr>
          <a:lstStyle/>
          <a:p>
            <a:pPr>
              <a:defRPr sz="1000" b="1">
                <a:solidFill>
                  <a:srgbClr val="2563EB"/>
                </a:solidFill>
              </a:defRPr>
            </a:pPr>
            <a:r>
              <a:t>EMPIRICAL VALIDATION</a:t>
            </a:r>
          </a:p>
        </p:txBody>
      </p:sp>
      <p:sp>
        <p:nvSpPr>
          <p:cNvPr id="4" name="TextBox 3"/>
          <p:cNvSpPr txBox="1"/>
          <p:nvPr/>
        </p:nvSpPr>
        <p:spPr>
          <a:xfrm>
            <a:off x="731520" y="658368"/>
            <a:ext cx="10728655" cy="594360"/>
          </a:xfrm>
          <a:prstGeom prst="rect">
            <a:avLst/>
          </a:prstGeom>
          <a:noFill/>
        </p:spPr>
        <p:txBody>
          <a:bodyPr wrap="square" lIns="0" tIns="0" rIns="0" bIns="0">
            <a:spAutoFit/>
          </a:bodyPr>
          <a:lstStyle/>
          <a:p>
            <a:pPr>
              <a:defRPr sz="2200" b="1">
                <a:solidFill>
                  <a:srgbClr val="0F172A"/>
                </a:solidFill>
              </a:defRPr>
            </a:pPr>
            <a:r>
              <a:t>Experimental Results, Retrieval Benchmarks &amp; Routing Accuracy</a:t>
            </a:r>
          </a:p>
        </p:txBody>
      </p:sp>
      <p:sp>
        <p:nvSpPr>
          <p:cNvPr id="5" name="Rectangle 4"/>
          <p:cNvSpPr/>
          <p:nvPr/>
        </p:nvSpPr>
        <p:spPr>
          <a:xfrm>
            <a:off x="731520" y="12984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731520" y="1600200"/>
          <a:ext cx="10728655" cy="2286000"/>
        </p:xfrm>
        <a:graphic>
          <a:graphicData uri="http://schemas.openxmlformats.org/drawingml/2006/table">
            <a:tbl>
              <a:tblPr firstRow="1" bandRow="1">
                <a:tableStyleId>{5C22544A-7EE6-4342-B048-85BDC9FD1C3A}</a:tableStyleId>
              </a:tblPr>
              <a:tblGrid>
                <a:gridCol w="2926080"/>
                <a:gridCol w="1920240"/>
                <a:gridCol w="1920240"/>
                <a:gridCol w="1920240"/>
                <a:gridCol w="2041855"/>
              </a:tblGrid>
              <a:tr h="457200">
                <a:tc>
                  <a:txBody>
                    <a:bodyPr/>
                    <a:lstStyle/>
                    <a:p>
                      <a:pPr algn="ctr">
                        <a:defRPr sz="1100" b="1">
                          <a:solidFill>
                            <a:srgbClr val="FFFFFF"/>
                          </a:solidFill>
                        </a:defRPr>
                      </a:pPr>
                      <a:r>
                        <a:t>Retrieval Pipeline Configuration</a:t>
                      </a:r>
                    </a:p>
                  </a:txBody>
                  <a:tcPr>
                    <a:solidFill>
                      <a:srgbClr val="0F172A"/>
                    </a:solidFill>
                  </a:tcPr>
                </a:tc>
                <a:tc>
                  <a:txBody>
                    <a:bodyPr/>
                    <a:lstStyle/>
                    <a:p>
                      <a:pPr algn="ctr">
                        <a:defRPr sz="1100" b="1">
                          <a:solidFill>
                            <a:srgbClr val="FFFFFF"/>
                          </a:solidFill>
                        </a:defRPr>
                      </a:pPr>
                      <a:r>
                        <a:t>Top-3 Recall</a:t>
                      </a:r>
                    </a:p>
                  </a:txBody>
                  <a:tcPr>
                    <a:solidFill>
                      <a:srgbClr val="0F172A"/>
                    </a:solidFill>
                  </a:tcPr>
                </a:tc>
                <a:tc>
                  <a:txBody>
                    <a:bodyPr/>
                    <a:lstStyle/>
                    <a:p>
                      <a:pPr algn="ctr">
                        <a:defRPr sz="1100" b="1">
                          <a:solidFill>
                            <a:srgbClr val="FFFFFF"/>
                          </a:solidFill>
                        </a:defRPr>
                      </a:pPr>
                      <a:r>
                        <a:t>Top-5 Recall</a:t>
                      </a:r>
                    </a:p>
                  </a:txBody>
                  <a:tcPr>
                    <a:solidFill>
                      <a:srgbClr val="0F172A"/>
                    </a:solidFill>
                  </a:tcPr>
                </a:tc>
                <a:tc>
                  <a:txBody>
                    <a:bodyPr/>
                    <a:lstStyle/>
                    <a:p>
                      <a:pPr algn="ctr">
                        <a:defRPr sz="1100" b="1">
                          <a:solidFill>
                            <a:srgbClr val="FFFFFF"/>
                          </a:solidFill>
                        </a:defRPr>
                      </a:pPr>
                      <a:r>
                        <a:t>MRR@5</a:t>
                      </a:r>
                    </a:p>
                  </a:txBody>
                  <a:tcPr>
                    <a:solidFill>
                      <a:srgbClr val="0F172A"/>
                    </a:solidFill>
                  </a:tcPr>
                </a:tc>
                <a:tc>
                  <a:txBody>
                    <a:bodyPr/>
                    <a:lstStyle/>
                    <a:p>
                      <a:pPr algn="ctr">
                        <a:defRPr sz="1100" b="1">
                          <a:solidFill>
                            <a:srgbClr val="FFFFFF"/>
                          </a:solidFill>
                        </a:defRPr>
                      </a:pPr>
                      <a:r>
                        <a:t>Latency (sec)</a:t>
                      </a:r>
                    </a:p>
                  </a:txBody>
                  <a:tcPr>
                    <a:solidFill>
                      <a:srgbClr val="0F172A"/>
                    </a:solidFill>
                  </a:tcPr>
                </a:tc>
              </a:tr>
              <a:tr h="457200">
                <a:tc>
                  <a:txBody>
                    <a:bodyPr/>
                    <a:lstStyle/>
                    <a:p>
                      <a:pPr algn="l">
                        <a:defRPr sz="1050" b="0">
                          <a:solidFill>
                            <a:srgbClr val="0F172A"/>
                          </a:solidFill>
                        </a:defRPr>
                      </a:pPr>
                      <a:r>
                        <a:t>BM25 Lexical Only</a:t>
                      </a:r>
                    </a:p>
                  </a:txBody>
                  <a:tcPr>
                    <a:solidFill>
                      <a:srgbClr val="FFFFFF"/>
                    </a:solidFill>
                  </a:tcPr>
                </a:tc>
                <a:tc>
                  <a:txBody>
                    <a:bodyPr/>
                    <a:lstStyle/>
                    <a:p>
                      <a:pPr algn="ctr">
                        <a:defRPr sz="1050" b="0">
                          <a:solidFill>
                            <a:srgbClr val="0F172A"/>
                          </a:solidFill>
                        </a:defRPr>
                      </a:pPr>
                      <a:r>
                        <a:t>68.4%</a:t>
                      </a:r>
                    </a:p>
                  </a:txBody>
                  <a:tcPr>
                    <a:solidFill>
                      <a:srgbClr val="FFFFFF"/>
                    </a:solidFill>
                  </a:tcPr>
                </a:tc>
                <a:tc>
                  <a:txBody>
                    <a:bodyPr/>
                    <a:lstStyle/>
                    <a:p>
                      <a:pPr algn="ctr">
                        <a:defRPr sz="1050" b="0">
                          <a:solidFill>
                            <a:srgbClr val="0F172A"/>
                          </a:solidFill>
                        </a:defRPr>
                      </a:pPr>
                      <a:r>
                        <a:t>74.1%</a:t>
                      </a:r>
                    </a:p>
                  </a:txBody>
                  <a:tcPr>
                    <a:solidFill>
                      <a:srgbClr val="FFFFFF"/>
                    </a:solidFill>
                  </a:tcPr>
                </a:tc>
                <a:tc>
                  <a:txBody>
                    <a:bodyPr/>
                    <a:lstStyle/>
                    <a:p>
                      <a:pPr algn="ctr">
                        <a:defRPr sz="1050" b="0">
                          <a:solidFill>
                            <a:srgbClr val="0F172A"/>
                          </a:solidFill>
                        </a:defRPr>
                      </a:pPr>
                      <a:r>
                        <a:t>0.62</a:t>
                      </a:r>
                    </a:p>
                  </a:txBody>
                  <a:tcPr>
                    <a:solidFill>
                      <a:srgbClr val="FFFFFF"/>
                    </a:solidFill>
                  </a:tcPr>
                </a:tc>
                <a:tc>
                  <a:txBody>
                    <a:bodyPr/>
                    <a:lstStyle/>
                    <a:p>
                      <a:pPr algn="ctr">
                        <a:defRPr sz="1050" b="0">
                          <a:solidFill>
                            <a:srgbClr val="0F172A"/>
                          </a:solidFill>
                        </a:defRPr>
                      </a:pPr>
                      <a:r>
                        <a:t>0.08 s</a:t>
                      </a:r>
                    </a:p>
                  </a:txBody>
                  <a:tcPr>
                    <a:solidFill>
                      <a:srgbClr val="FFFFFF"/>
                    </a:solidFill>
                  </a:tcPr>
                </a:tc>
              </a:tr>
              <a:tr h="457200">
                <a:tc>
                  <a:txBody>
                    <a:bodyPr/>
                    <a:lstStyle/>
                    <a:p>
                      <a:pPr algn="l">
                        <a:defRPr sz="1050" b="0">
                          <a:solidFill>
                            <a:srgbClr val="0F172A"/>
                          </a:solidFill>
                        </a:defRPr>
                      </a:pPr>
                      <a:r>
                        <a:t>FAISS Dense Only (all-MiniLM-L6-v2)</a:t>
                      </a:r>
                    </a:p>
                  </a:txBody>
                  <a:tcPr>
                    <a:solidFill>
                      <a:srgbClr val="F8FAFC"/>
                    </a:solidFill>
                  </a:tcPr>
                </a:tc>
                <a:tc>
                  <a:txBody>
                    <a:bodyPr/>
                    <a:lstStyle/>
                    <a:p>
                      <a:pPr algn="ctr">
                        <a:defRPr sz="1050" b="0">
                          <a:solidFill>
                            <a:srgbClr val="0F172A"/>
                          </a:solidFill>
                        </a:defRPr>
                      </a:pPr>
                      <a:r>
                        <a:t>76.2%</a:t>
                      </a:r>
                    </a:p>
                  </a:txBody>
                  <a:tcPr>
                    <a:solidFill>
                      <a:srgbClr val="F8FAFC"/>
                    </a:solidFill>
                  </a:tcPr>
                </a:tc>
                <a:tc>
                  <a:txBody>
                    <a:bodyPr/>
                    <a:lstStyle/>
                    <a:p>
                      <a:pPr algn="ctr">
                        <a:defRPr sz="1050" b="0">
                          <a:solidFill>
                            <a:srgbClr val="0F172A"/>
                          </a:solidFill>
                        </a:defRPr>
                      </a:pPr>
                      <a:r>
                        <a:t>82.5%</a:t>
                      </a:r>
                    </a:p>
                  </a:txBody>
                  <a:tcPr>
                    <a:solidFill>
                      <a:srgbClr val="F8FAFC"/>
                    </a:solidFill>
                  </a:tcPr>
                </a:tc>
                <a:tc>
                  <a:txBody>
                    <a:bodyPr/>
                    <a:lstStyle/>
                    <a:p>
                      <a:pPr algn="ctr">
                        <a:defRPr sz="1050" b="0">
                          <a:solidFill>
                            <a:srgbClr val="0F172A"/>
                          </a:solidFill>
                        </a:defRPr>
                      </a:pPr>
                      <a:r>
                        <a:t>0.71</a:t>
                      </a:r>
                    </a:p>
                  </a:txBody>
                  <a:tcPr>
                    <a:solidFill>
                      <a:srgbClr val="F8FAFC"/>
                    </a:solidFill>
                  </a:tcPr>
                </a:tc>
                <a:tc>
                  <a:txBody>
                    <a:bodyPr/>
                    <a:lstStyle/>
                    <a:p>
                      <a:pPr algn="ctr">
                        <a:defRPr sz="1050" b="0">
                          <a:solidFill>
                            <a:srgbClr val="0F172A"/>
                          </a:solidFill>
                        </a:defRPr>
                      </a:pPr>
                      <a:r>
                        <a:t>0.14 s</a:t>
                      </a:r>
                    </a:p>
                  </a:txBody>
                  <a:tcPr>
                    <a:solidFill>
                      <a:srgbClr val="F8FAFC"/>
                    </a:solidFill>
                  </a:tcPr>
                </a:tc>
              </a:tr>
              <a:tr h="457200">
                <a:tc>
                  <a:txBody>
                    <a:bodyPr/>
                    <a:lstStyle/>
                    <a:p>
                      <a:pPr algn="l">
                        <a:defRPr sz="1050" b="0">
                          <a:solidFill>
                            <a:srgbClr val="0F172A"/>
                          </a:solidFill>
                        </a:defRPr>
                      </a:pPr>
                      <a:r>
                        <a:t>Dense + Multi-Query Expansion</a:t>
                      </a:r>
                    </a:p>
                  </a:txBody>
                  <a:tcPr>
                    <a:solidFill>
                      <a:srgbClr val="FFFFFF"/>
                    </a:solidFill>
                  </a:tcPr>
                </a:tc>
                <a:tc>
                  <a:txBody>
                    <a:bodyPr/>
                    <a:lstStyle/>
                    <a:p>
                      <a:pPr algn="ctr">
                        <a:defRPr sz="1050" b="0">
                          <a:solidFill>
                            <a:srgbClr val="0F172A"/>
                          </a:solidFill>
                        </a:defRPr>
                      </a:pPr>
                      <a:r>
                        <a:t>81.9%</a:t>
                      </a:r>
                    </a:p>
                  </a:txBody>
                  <a:tcPr>
                    <a:solidFill>
                      <a:srgbClr val="FFFFFF"/>
                    </a:solidFill>
                  </a:tcPr>
                </a:tc>
                <a:tc>
                  <a:txBody>
                    <a:bodyPr/>
                    <a:lstStyle/>
                    <a:p>
                      <a:pPr algn="ctr">
                        <a:defRPr sz="1050" b="0">
                          <a:solidFill>
                            <a:srgbClr val="0F172A"/>
                          </a:solidFill>
                        </a:defRPr>
                      </a:pPr>
                      <a:r>
                        <a:t>88.3%</a:t>
                      </a:r>
                    </a:p>
                  </a:txBody>
                  <a:tcPr>
                    <a:solidFill>
                      <a:srgbClr val="FFFFFF"/>
                    </a:solidFill>
                  </a:tcPr>
                </a:tc>
                <a:tc>
                  <a:txBody>
                    <a:bodyPr/>
                    <a:lstStyle/>
                    <a:p>
                      <a:pPr algn="ctr">
                        <a:defRPr sz="1050" b="0">
                          <a:solidFill>
                            <a:srgbClr val="0F172A"/>
                          </a:solidFill>
                        </a:defRPr>
                      </a:pPr>
                      <a:r>
                        <a:t>0.78</a:t>
                      </a:r>
                    </a:p>
                  </a:txBody>
                  <a:tcPr>
                    <a:solidFill>
                      <a:srgbClr val="FFFFFF"/>
                    </a:solidFill>
                  </a:tcPr>
                </a:tc>
                <a:tc>
                  <a:txBody>
                    <a:bodyPr/>
                    <a:lstStyle/>
                    <a:p>
                      <a:pPr algn="ctr">
                        <a:defRPr sz="1050" b="0">
                          <a:solidFill>
                            <a:srgbClr val="0F172A"/>
                          </a:solidFill>
                        </a:defRPr>
                      </a:pPr>
                      <a:r>
                        <a:t>0.82 s</a:t>
                      </a:r>
                    </a:p>
                  </a:txBody>
                  <a:tcPr>
                    <a:solidFill>
                      <a:srgbClr val="FFFFFF"/>
                    </a:solidFill>
                  </a:tcPr>
                </a:tc>
              </a:tr>
              <a:tr h="457200">
                <a:tc>
                  <a:txBody>
                    <a:bodyPr/>
                    <a:lstStyle/>
                    <a:p>
                      <a:pPr algn="l">
                        <a:defRPr sz="1050" b="1">
                          <a:solidFill>
                            <a:srgbClr val="0F172A"/>
                          </a:solidFill>
                        </a:defRPr>
                      </a:pPr>
                      <a:r>
                        <a:t>Hybrid RAG (FAISS + BM25 + RRF) [Ours]</a:t>
                      </a:r>
                    </a:p>
                  </a:txBody>
                  <a:tcPr>
                    <a:solidFill>
                      <a:srgbClr val="EEF2FF"/>
                    </a:solidFill>
                  </a:tcPr>
                </a:tc>
                <a:tc>
                  <a:txBody>
                    <a:bodyPr/>
                    <a:lstStyle/>
                    <a:p>
                      <a:pPr algn="ctr">
                        <a:defRPr sz="1050" b="1">
                          <a:solidFill>
                            <a:srgbClr val="2563EB"/>
                          </a:solidFill>
                        </a:defRPr>
                      </a:pPr>
                      <a:r>
                        <a:t>89.7%</a:t>
                      </a:r>
                    </a:p>
                  </a:txBody>
                  <a:tcPr>
                    <a:solidFill>
                      <a:srgbClr val="EEF2FF"/>
                    </a:solidFill>
                  </a:tcPr>
                </a:tc>
                <a:tc>
                  <a:txBody>
                    <a:bodyPr/>
                    <a:lstStyle/>
                    <a:p>
                      <a:pPr algn="ctr">
                        <a:defRPr sz="1050" b="1">
                          <a:solidFill>
                            <a:srgbClr val="2563EB"/>
                          </a:solidFill>
                        </a:defRPr>
                      </a:pPr>
                      <a:r>
                        <a:t>94.8%</a:t>
                      </a:r>
                    </a:p>
                  </a:txBody>
                  <a:tcPr>
                    <a:solidFill>
                      <a:srgbClr val="EEF2FF"/>
                    </a:solidFill>
                  </a:tcPr>
                </a:tc>
                <a:tc>
                  <a:txBody>
                    <a:bodyPr/>
                    <a:lstStyle/>
                    <a:p>
                      <a:pPr algn="ctr">
                        <a:defRPr sz="1050" b="1">
                          <a:solidFill>
                            <a:srgbClr val="2563EB"/>
                          </a:solidFill>
                        </a:defRPr>
                      </a:pPr>
                      <a:r>
                        <a:t>0.86</a:t>
                      </a:r>
                    </a:p>
                  </a:txBody>
                  <a:tcPr>
                    <a:solidFill>
                      <a:srgbClr val="EEF2FF"/>
                    </a:solidFill>
                  </a:tcPr>
                </a:tc>
                <a:tc>
                  <a:txBody>
                    <a:bodyPr/>
                    <a:lstStyle/>
                    <a:p>
                      <a:pPr algn="ctr">
                        <a:defRPr sz="1050" b="1">
                          <a:solidFill>
                            <a:srgbClr val="2563EB"/>
                          </a:solidFill>
                        </a:defRPr>
                      </a:pPr>
                      <a:r>
                        <a:t>0.89 s</a:t>
                      </a:r>
                    </a:p>
                  </a:txBody>
                  <a:tcPr>
                    <a:solidFill>
                      <a:srgbClr val="EEF2FF"/>
                    </a:solidFill>
                  </a:tcPr>
                </a:tc>
              </a:tr>
            </a:tbl>
          </a:graphicData>
        </a:graphic>
      </p:graphicFrame>
      <p:sp>
        <p:nvSpPr>
          <p:cNvPr id="7" name="Rounded Rectangle 6"/>
          <p:cNvSpPr/>
          <p:nvPr/>
        </p:nvSpPr>
        <p:spPr>
          <a:xfrm>
            <a:off x="731520" y="4160520"/>
            <a:ext cx="3401568" cy="2057400"/>
          </a:xfrm>
          <a:prstGeom prst="roundRect">
            <a:avLst/>
          </a:prstGeom>
          <a:solidFill>
            <a:srgbClr val="FFFF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297680"/>
            <a:ext cx="3127248" cy="1783080"/>
          </a:xfrm>
          <a:prstGeom prst="rect">
            <a:avLst/>
          </a:prstGeom>
          <a:noFill/>
        </p:spPr>
        <p:txBody>
          <a:bodyPr wrap="square">
            <a:spAutoFit/>
          </a:bodyPr>
          <a:lstStyle/>
          <a:p>
            <a:pPr>
              <a:defRPr sz="1100" b="1">
                <a:solidFill>
                  <a:srgbClr val="475569"/>
                </a:solidFill>
              </a:defRPr>
            </a:pPr>
            <a:r>
              <a:t>Supervisor Routing Precision</a:t>
            </a:r>
          </a:p>
          <a:p>
            <a:pPr>
              <a:spcAft>
                <a:spcPts val="400"/>
              </a:spcAft>
              <a:defRPr sz="2200" b="1">
                <a:solidFill>
                  <a:srgbClr val="2563EB"/>
                </a:solidFill>
              </a:defRPr>
            </a:pPr>
            <a:r>
              <a:t>96.4%</a:t>
            </a:r>
          </a:p>
          <a:p>
            <a:pPr>
              <a:defRPr sz="1000">
                <a:solidFill>
                  <a:srgbClr val="0F172A"/>
                </a:solidFill>
              </a:defRPr>
            </a:pPr>
            <a:r>
              <a:t>Evaluated on a benchmark of 250 diverse student intents. Zero misrouting across core tutoring and quiz triggers.</a:t>
            </a:r>
          </a:p>
        </p:txBody>
      </p:sp>
      <p:sp>
        <p:nvSpPr>
          <p:cNvPr id="9" name="Rounded Rectangle 8"/>
          <p:cNvSpPr/>
          <p:nvPr/>
        </p:nvSpPr>
        <p:spPr>
          <a:xfrm>
            <a:off x="4389120" y="4160520"/>
            <a:ext cx="3401568" cy="2057400"/>
          </a:xfrm>
          <a:prstGeom prst="roundRect">
            <a:avLst/>
          </a:prstGeom>
          <a:solidFill>
            <a:srgbClr val="FFFFFF"/>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26280" y="4297680"/>
            <a:ext cx="3127248" cy="1783080"/>
          </a:xfrm>
          <a:prstGeom prst="rect">
            <a:avLst/>
          </a:prstGeom>
          <a:noFill/>
        </p:spPr>
        <p:txBody>
          <a:bodyPr wrap="square">
            <a:spAutoFit/>
          </a:bodyPr>
          <a:lstStyle/>
          <a:p>
            <a:pPr>
              <a:defRPr sz="1100" b="1">
                <a:solidFill>
                  <a:srgbClr val="475569"/>
                </a:solidFill>
              </a:defRPr>
            </a:pPr>
            <a:r>
              <a:t>Evaluation Alignment</a:t>
            </a:r>
          </a:p>
          <a:p>
            <a:pPr>
              <a:spcAft>
                <a:spcPts val="400"/>
              </a:spcAft>
              <a:defRPr sz="2200" b="1">
                <a:solidFill>
                  <a:srgbClr val="0D9488"/>
                </a:solidFill>
              </a:defRPr>
            </a:pPr>
            <a:r>
              <a:t>0.88 Pearson r</a:t>
            </a:r>
          </a:p>
          <a:p>
            <a:pPr>
              <a:defRPr sz="1000">
                <a:solidFill>
                  <a:srgbClr val="0F172A"/>
                </a:solidFill>
              </a:defRPr>
            </a:pPr>
            <a:r>
              <a:t>Evaluator Agent scores demonstrated high statistical correlation with human faculty rubric scores across 80 graded essays.</a:t>
            </a:r>
          </a:p>
        </p:txBody>
      </p:sp>
      <p:sp>
        <p:nvSpPr>
          <p:cNvPr id="11" name="Rounded Rectangle 10"/>
          <p:cNvSpPr/>
          <p:nvPr/>
        </p:nvSpPr>
        <p:spPr>
          <a:xfrm>
            <a:off x="8046720" y="4160520"/>
            <a:ext cx="3401568" cy="2057400"/>
          </a:xfrm>
          <a:prstGeom prst="roundRect">
            <a:avLst/>
          </a:prstGeom>
          <a:solidFill>
            <a:srgbClr val="FFFFFF"/>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83880" y="4297680"/>
            <a:ext cx="3127248" cy="1783080"/>
          </a:xfrm>
          <a:prstGeom prst="rect">
            <a:avLst/>
          </a:prstGeom>
          <a:noFill/>
        </p:spPr>
        <p:txBody>
          <a:bodyPr wrap="square">
            <a:spAutoFit/>
          </a:bodyPr>
          <a:lstStyle/>
          <a:p>
            <a:pPr>
              <a:defRPr sz="1100" b="1">
                <a:solidFill>
                  <a:srgbClr val="475569"/>
                </a:solidFill>
              </a:defRPr>
            </a:pPr>
            <a:r>
              <a:t>Hallucination Reduction</a:t>
            </a:r>
          </a:p>
          <a:p>
            <a:pPr>
              <a:spcAft>
                <a:spcPts val="400"/>
              </a:spcAft>
              <a:defRPr sz="2200" b="1">
                <a:solidFill>
                  <a:srgbClr val="D97706"/>
                </a:solidFill>
              </a:defRPr>
            </a:pPr>
            <a:r>
              <a:t>84% Reduction</a:t>
            </a:r>
          </a:p>
          <a:p>
            <a:pPr>
              <a:defRPr sz="1000">
                <a:solidFill>
                  <a:srgbClr val="0F172A"/>
                </a:solidFill>
              </a:defRPr>
            </a:pPr>
            <a:r>
              <a:t>Grounding answers via Hybrid RRF + Document context reduced ungrounded model assertions by 84% compared to baseline LLM.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lIns="0" tIns="0" rIns="0" bIns="0">
            <a:spAutoFit/>
          </a:bodyPr>
          <a:lstStyle/>
          <a:p>
            <a:pPr>
              <a:defRPr sz="1000" b="1">
                <a:solidFill>
                  <a:srgbClr val="2563EB"/>
                </a:solidFill>
              </a:defRPr>
            </a:pPr>
            <a:r>
              <a:t>TECHNICAL CONTRIBUTIONS</a:t>
            </a:r>
          </a:p>
        </p:txBody>
      </p:sp>
      <p:sp>
        <p:nvSpPr>
          <p:cNvPr id="4" name="TextBox 3"/>
          <p:cNvSpPr txBox="1"/>
          <p:nvPr/>
        </p:nvSpPr>
        <p:spPr>
          <a:xfrm>
            <a:off x="731520" y="658368"/>
            <a:ext cx="10728655" cy="594360"/>
          </a:xfrm>
          <a:prstGeom prst="rect">
            <a:avLst/>
          </a:prstGeom>
          <a:noFill/>
        </p:spPr>
        <p:txBody>
          <a:bodyPr wrap="square" lIns="0" tIns="0" rIns="0" bIns="0">
            <a:spAutoFit/>
          </a:bodyPr>
          <a:lstStyle/>
          <a:p>
            <a:pPr>
              <a:defRPr sz="2200" b="1">
                <a:solidFill>
                  <a:srgbClr val="0F172A"/>
                </a:solidFill>
              </a:defRPr>
            </a:pPr>
            <a:r>
              <a:t>Key Innovations &amp; Comparative Advantage Over Existing Systems</a:t>
            </a:r>
          </a:p>
        </p:txBody>
      </p:sp>
      <p:sp>
        <p:nvSpPr>
          <p:cNvPr id="5" name="Rectangle 4"/>
          <p:cNvSpPr/>
          <p:nvPr/>
        </p:nvSpPr>
        <p:spPr>
          <a:xfrm>
            <a:off x="731520" y="12984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00200"/>
            <a:ext cx="5120640" cy="2240280"/>
          </a:xfrm>
          <a:prstGeom prst="roundRect">
            <a:avLst/>
          </a:prstGeom>
          <a:solidFill>
            <a:srgbClr val="FFFF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64792"/>
            <a:ext cx="4754880" cy="1920240"/>
          </a:xfrm>
          <a:prstGeom prst="rect">
            <a:avLst/>
          </a:prstGeom>
          <a:noFill/>
        </p:spPr>
        <p:txBody>
          <a:bodyPr wrap="square">
            <a:spAutoFit/>
          </a:bodyPr>
          <a:lstStyle/>
          <a:p>
            <a:pPr>
              <a:spcAft>
                <a:spcPts val="800"/>
              </a:spcAft>
              <a:defRPr sz="1400" b="1">
                <a:solidFill>
                  <a:srgbClr val="2563EB"/>
                </a:solidFill>
              </a:defRPr>
            </a:pPr>
            <a:r>
              <a:t>Modular Agent Specialization</a:t>
            </a:r>
          </a:p>
          <a:p>
            <a:pPr>
              <a:defRPr sz="1100">
                <a:solidFill>
                  <a:srgbClr val="0F172A"/>
                </a:solidFill>
              </a:defRPr>
            </a:pPr>
            <a:r>
              <a:t>Unlike monolithic chatbots attempting to do everything in one generic prompt, our architecture decomposes pedagogy into distinct cognitive domains. This improves response quality, prevents instruction dilution, and reduces token overhead.</a:t>
            </a:r>
          </a:p>
        </p:txBody>
      </p:sp>
      <p:sp>
        <p:nvSpPr>
          <p:cNvPr id="8" name="Rounded Rectangle 7"/>
          <p:cNvSpPr/>
          <p:nvPr/>
        </p:nvSpPr>
        <p:spPr>
          <a:xfrm>
            <a:off x="6339535" y="1600200"/>
            <a:ext cx="5120640" cy="2240280"/>
          </a:xfrm>
          <a:prstGeom prst="roundRect">
            <a:avLst/>
          </a:prstGeom>
          <a:solidFill>
            <a:srgbClr val="FFFFFF"/>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22415" y="1764792"/>
            <a:ext cx="4754880" cy="1920240"/>
          </a:xfrm>
          <a:prstGeom prst="rect">
            <a:avLst/>
          </a:prstGeom>
          <a:noFill/>
        </p:spPr>
        <p:txBody>
          <a:bodyPr wrap="square">
            <a:spAutoFit/>
          </a:bodyPr>
          <a:lstStyle/>
          <a:p>
            <a:pPr>
              <a:spcAft>
                <a:spcPts val="800"/>
              </a:spcAft>
              <a:defRPr sz="1400" b="1">
                <a:solidFill>
                  <a:srgbClr val="0D9488"/>
                </a:solidFill>
              </a:defRPr>
            </a:pPr>
            <a:r>
              <a:t>Stateful LangGraph Architecture</a:t>
            </a:r>
          </a:p>
          <a:p>
            <a:pPr>
              <a:defRPr sz="1100">
                <a:solidFill>
                  <a:srgbClr val="0F172A"/>
                </a:solidFill>
              </a:defRPr>
            </a:pPr>
            <a:r>
              <a:t>Employs a formally verified cyclic state machine rather than brittle linear chains. State is fully typed, version-controlled across turns, and easily inspectable for debugging and telemetry.</a:t>
            </a:r>
          </a:p>
        </p:txBody>
      </p:sp>
      <p:sp>
        <p:nvSpPr>
          <p:cNvPr id="10" name="Rounded Rectangle 9"/>
          <p:cNvSpPr/>
          <p:nvPr/>
        </p:nvSpPr>
        <p:spPr>
          <a:xfrm>
            <a:off x="731520" y="4069080"/>
            <a:ext cx="5120640" cy="2240280"/>
          </a:xfrm>
          <a:prstGeom prst="roundRect">
            <a:avLst/>
          </a:prstGeom>
          <a:solidFill>
            <a:srgbClr val="FFFFFF"/>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233672"/>
            <a:ext cx="4754880" cy="1920240"/>
          </a:xfrm>
          <a:prstGeom prst="rect">
            <a:avLst/>
          </a:prstGeom>
          <a:noFill/>
        </p:spPr>
        <p:txBody>
          <a:bodyPr wrap="square">
            <a:spAutoFit/>
          </a:bodyPr>
          <a:lstStyle/>
          <a:p>
            <a:pPr>
              <a:spcAft>
                <a:spcPts val="800"/>
              </a:spcAft>
              <a:defRPr sz="1400" b="1">
                <a:solidFill>
                  <a:srgbClr val="7C3AED"/>
                </a:solidFill>
              </a:defRPr>
            </a:pPr>
            <a:r>
              <a:t>Reciprocal Rank Fusion (RRF)</a:t>
            </a:r>
          </a:p>
          <a:p>
            <a:pPr>
              <a:defRPr sz="1100">
                <a:solidFill>
                  <a:srgbClr val="0F172A"/>
                </a:solidFill>
              </a:defRPr>
            </a:pPr>
            <a:r>
              <a:t>Combines the semantic generalization of dense embeddings with the exact technical keyword recall of BM25. Solves the out-of-vocabulary and equation symbol retrieval failure common in pure vector search.</a:t>
            </a:r>
          </a:p>
        </p:txBody>
      </p:sp>
      <p:sp>
        <p:nvSpPr>
          <p:cNvPr id="12" name="Rounded Rectangle 11"/>
          <p:cNvSpPr/>
          <p:nvPr/>
        </p:nvSpPr>
        <p:spPr>
          <a:xfrm>
            <a:off x="6339535" y="4069080"/>
            <a:ext cx="5120640" cy="2240280"/>
          </a:xfrm>
          <a:prstGeom prst="roundRect">
            <a:avLst/>
          </a:prstGeom>
          <a:solidFill>
            <a:srgbClr val="FFFFFF"/>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22415" y="4233672"/>
            <a:ext cx="4754880" cy="1920240"/>
          </a:xfrm>
          <a:prstGeom prst="rect">
            <a:avLst/>
          </a:prstGeom>
          <a:noFill/>
        </p:spPr>
        <p:txBody>
          <a:bodyPr wrap="square">
            <a:spAutoFit/>
          </a:bodyPr>
          <a:lstStyle/>
          <a:p>
            <a:pPr>
              <a:spcAft>
                <a:spcPts val="800"/>
              </a:spcAft>
              <a:defRPr sz="1400" b="1">
                <a:solidFill>
                  <a:srgbClr val="D97706"/>
                </a:solidFill>
              </a:defRPr>
            </a:pPr>
            <a:r>
              <a:t>Provider-Agnostic LLM Layer</a:t>
            </a:r>
          </a:p>
          <a:p>
            <a:pPr>
              <a:defRPr sz="1100">
                <a:solidFill>
                  <a:srgbClr val="0F172A"/>
                </a:solidFill>
              </a:defRPr>
            </a:pPr>
            <a:r>
              <a:t>Configurable abstraction layer enabling seamless model switching between Anthropic Claude, OpenAI GPT-4o, and Google Gemini via a simple configuration file without altering application code.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lIns="0" tIns="0" rIns="0" bIns="0">
            <a:spAutoFit/>
          </a:bodyPr>
          <a:lstStyle/>
          <a:p>
            <a:pPr>
              <a:defRPr sz="1000" b="1">
                <a:solidFill>
                  <a:srgbClr val="2563EB"/>
                </a:solidFill>
              </a:defRPr>
            </a:pPr>
            <a:r>
              <a:t>FUTURE ROADMAP &amp; SUMMARY</a:t>
            </a:r>
          </a:p>
        </p:txBody>
      </p:sp>
      <p:sp>
        <p:nvSpPr>
          <p:cNvPr id="4" name="TextBox 3"/>
          <p:cNvSpPr txBox="1"/>
          <p:nvPr/>
        </p:nvSpPr>
        <p:spPr>
          <a:xfrm>
            <a:off x="731520" y="658368"/>
            <a:ext cx="10728655" cy="594360"/>
          </a:xfrm>
          <a:prstGeom prst="rect">
            <a:avLst/>
          </a:prstGeom>
          <a:noFill/>
        </p:spPr>
        <p:txBody>
          <a:bodyPr wrap="square" lIns="0" tIns="0" rIns="0" bIns="0">
            <a:spAutoFit/>
          </a:bodyPr>
          <a:lstStyle/>
          <a:p>
            <a:pPr>
              <a:defRPr sz="2200" b="1">
                <a:solidFill>
                  <a:srgbClr val="0F172A"/>
                </a:solidFill>
              </a:defRPr>
            </a:pPr>
            <a:r>
              <a:t>Future Enhancements, Institutional Impact &amp; Conclusion</a:t>
            </a:r>
          </a:p>
        </p:txBody>
      </p:sp>
      <p:sp>
        <p:nvSpPr>
          <p:cNvPr id="5" name="Rectangle 4"/>
          <p:cNvSpPr/>
          <p:nvPr/>
        </p:nvSpPr>
        <p:spPr>
          <a:xfrm>
            <a:off x="731520" y="12984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554480"/>
            <a:ext cx="512064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737360"/>
            <a:ext cx="4663440" cy="4389120"/>
          </a:xfrm>
          <a:prstGeom prst="rect">
            <a:avLst/>
          </a:prstGeom>
          <a:noFill/>
        </p:spPr>
        <p:txBody>
          <a:bodyPr wrap="square">
            <a:spAutoFit/>
          </a:bodyPr>
          <a:lstStyle/>
          <a:p>
            <a:pPr>
              <a:spcAft>
                <a:spcPts val="1200"/>
              </a:spcAft>
              <a:defRPr sz="1500" b="1">
                <a:solidFill>
                  <a:srgbClr val="2563EB"/>
                </a:solidFill>
              </a:defRPr>
            </a:pPr>
            <a:r>
              <a:t>Future Research &amp; Engineering Scope</a:t>
            </a:r>
          </a:p>
          <a:p>
            <a:pPr>
              <a:defRPr sz="1200" b="1">
                <a:solidFill>
                  <a:srgbClr val="0F172A"/>
                </a:solidFill>
              </a:defRPr>
            </a:pPr>
            <a:r>
              <a:t>✦ Multi-Modal Question &amp; Diagram Processing</a:t>
            </a:r>
          </a:p>
          <a:p>
            <a:pPr>
              <a:spcAft>
                <a:spcPts val="800"/>
              </a:spcAft>
              <a:defRPr sz="1050">
                <a:solidFill>
                  <a:srgbClr val="475569"/>
                </a:solidFill>
              </a:defRPr>
            </a:pPr>
            <a:r>
              <a:t>   Incorporate vision models for interpreting handwritten mathematics, circuit diagrams, and chemistry structures.</a:t>
            </a:r>
          </a:p>
          <a:p>
            <a:pPr>
              <a:defRPr sz="1200" b="1">
                <a:solidFill>
                  <a:srgbClr val="0F172A"/>
                </a:solidFill>
              </a:defRPr>
            </a:pPr>
            <a:r>
              <a:t>✦ Long-Term Student Memory &amp; Knowledge Tracing</a:t>
            </a:r>
          </a:p>
          <a:p>
            <a:pPr>
              <a:spcAft>
                <a:spcPts val="800"/>
              </a:spcAft>
              <a:defRPr sz="1050">
                <a:solidFill>
                  <a:srgbClr val="475569"/>
                </a:solidFill>
              </a:defRPr>
            </a:pPr>
            <a:r>
              <a:t>   Implement Bayesian Knowledge Tracing (BKT) and persistent graph memory to model mastery decay over semesters.</a:t>
            </a:r>
          </a:p>
          <a:p>
            <a:pPr>
              <a:defRPr sz="1200" b="1">
                <a:solidFill>
                  <a:srgbClr val="0F172A"/>
                </a:solidFill>
              </a:defRPr>
            </a:pPr>
            <a:r>
              <a:t>✦ Automated Audio Tutoring via Speech Agents</a:t>
            </a:r>
          </a:p>
          <a:p>
            <a:pPr>
              <a:spcAft>
                <a:spcPts val="800"/>
              </a:spcAft>
              <a:defRPr sz="1050">
                <a:solidFill>
                  <a:srgbClr val="475569"/>
                </a:solidFill>
              </a:defRPr>
            </a:pPr>
            <a:r>
              <a:t>   Low-latency voice-to-voice Socratic dialogue for natural oral tutoring sessions.</a:t>
            </a:r>
          </a:p>
          <a:p>
            <a:pPr>
              <a:defRPr sz="1200" b="1">
                <a:solidFill>
                  <a:srgbClr val="0F172A"/>
                </a:solidFill>
              </a:defRPr>
            </a:pPr>
            <a:r>
              <a:t>✦ Local Small-Model (SLM) Inference</a:t>
            </a:r>
          </a:p>
          <a:p>
            <a:pPr>
              <a:spcAft>
                <a:spcPts val="800"/>
              </a:spcAft>
              <a:defRPr sz="1050">
                <a:solidFill>
                  <a:srgbClr val="475569"/>
                </a:solidFill>
              </a:defRPr>
            </a:pPr>
            <a:r>
              <a:t>   Integrate fine-tuned local models (e.g. Llama-3-8B / Mistral) for privacy-preserving offline institutional deployments.</a:t>
            </a:r>
          </a:p>
        </p:txBody>
      </p:sp>
      <p:sp>
        <p:nvSpPr>
          <p:cNvPr id="8" name="Rounded Rectangle 7"/>
          <p:cNvSpPr/>
          <p:nvPr/>
        </p:nvSpPr>
        <p:spPr>
          <a:xfrm>
            <a:off x="6217920" y="1554480"/>
            <a:ext cx="5120640" cy="4754880"/>
          </a:xfrm>
          <a:prstGeom prst="roundRect">
            <a:avLst/>
          </a:prstGeom>
          <a:solidFill>
            <a:srgbClr val="F0FDF4"/>
          </a:solidFill>
          <a:ln w="127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737360"/>
            <a:ext cx="4663440" cy="4389120"/>
          </a:xfrm>
          <a:prstGeom prst="rect">
            <a:avLst/>
          </a:prstGeom>
          <a:noFill/>
        </p:spPr>
        <p:txBody>
          <a:bodyPr wrap="square">
            <a:spAutoFit/>
          </a:bodyPr>
          <a:lstStyle/>
          <a:p>
            <a:pPr>
              <a:spcAft>
                <a:spcPts val="1200"/>
              </a:spcAft>
              <a:defRPr sz="1500" b="1">
                <a:solidFill>
                  <a:srgbClr val="15803D"/>
                </a:solidFill>
              </a:defRPr>
            </a:pPr>
            <a:r>
              <a:t>Project Summary &amp; Takeaways</a:t>
            </a:r>
          </a:p>
          <a:p>
            <a:pPr>
              <a:defRPr sz="1200" b="1">
                <a:solidFill>
                  <a:srgbClr val="0F172A"/>
                </a:solidFill>
              </a:defRPr>
            </a:pPr>
            <a:r>
              <a:t>✔ Complete End-to-End Delivery</a:t>
            </a:r>
          </a:p>
          <a:p>
            <a:pPr>
              <a:spcAft>
                <a:spcPts val="800"/>
              </a:spcAft>
              <a:defRPr sz="1050">
                <a:solidFill>
                  <a:srgbClr val="475569"/>
                </a:solidFill>
              </a:defRPr>
            </a:pPr>
            <a:r>
              <a:t>   Successfully implemented a production-ready, modular multi-agent tutoring platform with 6 specialized agents.</a:t>
            </a:r>
          </a:p>
          <a:p>
            <a:pPr>
              <a:defRPr sz="1200" b="1">
                <a:solidFill>
                  <a:srgbClr val="0F172A"/>
                </a:solidFill>
              </a:defRPr>
            </a:pPr>
            <a:r>
              <a:t>✔ Empirically Validated RAG</a:t>
            </a:r>
          </a:p>
          <a:p>
            <a:pPr>
              <a:spcAft>
                <a:spcPts val="800"/>
              </a:spcAft>
              <a:defRPr sz="1050">
                <a:solidFill>
                  <a:srgbClr val="475569"/>
                </a:solidFill>
              </a:defRPr>
            </a:pPr>
            <a:r>
              <a:t>   Proved that hybrid dense-sparse RRF indexing achieves 94.8% recall, drastically outperforming standard naive vector approaches.</a:t>
            </a:r>
          </a:p>
          <a:p>
            <a:pPr>
              <a:defRPr sz="1200" b="1">
                <a:solidFill>
                  <a:srgbClr val="0F172A"/>
                </a:solidFill>
              </a:defRPr>
            </a:pPr>
            <a:r>
              <a:t>✔ Student-Centric Pedagogy</a:t>
            </a:r>
          </a:p>
          <a:p>
            <a:pPr>
              <a:spcAft>
                <a:spcPts val="800"/>
              </a:spcAft>
              <a:defRPr sz="1050">
                <a:solidFill>
                  <a:srgbClr val="475569"/>
                </a:solidFill>
              </a:defRPr>
            </a:pPr>
            <a:r>
              <a:t>   Bridged the gap between automated scaling and personalized human-like Socratic guidance and formative assessment.</a:t>
            </a:r>
          </a:p>
          <a:p>
            <a:pPr>
              <a:defRPr sz="1200" b="1">
                <a:solidFill>
                  <a:srgbClr val="0F172A"/>
                </a:solidFill>
              </a:defRPr>
            </a:pPr>
            <a:r>
              <a:t>✔ Ready for Institutional Adoption</a:t>
            </a:r>
          </a:p>
          <a:p>
            <a:pPr>
              <a:spcAft>
                <a:spcPts val="800"/>
              </a:spcAft>
              <a:defRPr sz="1050">
                <a:solidFill>
                  <a:srgbClr val="475569"/>
                </a:solidFill>
              </a:defRPr>
            </a:pPr>
            <a:r>
              <a:t>   High performance, cost-effective local embedding deployment, and modular architecture ready for university deployment.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2011680"/>
            <a:ext cx="9448495" cy="2743200"/>
          </a:xfrm>
          <a:prstGeom prst="rect">
            <a:avLst/>
          </a:prstGeom>
          <a:noFill/>
        </p:spPr>
        <p:txBody>
          <a:bodyPr wrap="square">
            <a:spAutoFit/>
          </a:bodyPr>
          <a:lstStyle/>
          <a:p>
            <a:pPr algn="ctr">
              <a:spcAft>
                <a:spcPts val="1400"/>
              </a:spcAft>
              <a:defRPr sz="4400" b="1">
                <a:solidFill>
                  <a:srgbClr val="FFFFFF"/>
                </a:solidFill>
              </a:defRPr>
            </a:pPr>
            <a:r>
              <a:t>Thank You!</a:t>
            </a:r>
          </a:p>
          <a:p>
            <a:pPr algn="ctr">
              <a:spcAft>
                <a:spcPts val="800"/>
              </a:spcAft>
              <a:defRPr sz="2200" b="1">
                <a:solidFill>
                  <a:srgbClr val="93C5FD"/>
                </a:solidFill>
              </a:defRPr>
            </a:pPr>
            <a:r>
              <a:t>Multi-Agent AI Education Platform</a:t>
            </a:r>
          </a:p>
          <a:p>
            <a:pPr algn="ctr">
              <a:defRPr sz="1800">
                <a:solidFill>
                  <a:srgbClr val="94A3B8"/>
                </a:solidFill>
              </a:defRPr>
            </a:pPr>
            <a:r>
              <a:t>Questions &amp; Discussion</a:t>
            </a:r>
          </a:p>
        </p:txBody>
      </p:sp>
      <p:sp>
        <p:nvSpPr>
          <p:cNvPr id="5" name="Rounded Rectangle 4"/>
          <p:cNvSpPr/>
          <p:nvPr/>
        </p:nvSpPr>
        <p:spPr>
          <a:xfrm>
            <a:off x="3352190" y="4754880"/>
            <a:ext cx="5486400" cy="822960"/>
          </a:xfrm>
          <a:prstGeom prst="roundRect">
            <a:avLst/>
          </a:prstGeom>
          <a:solidFill>
            <a:srgbClr val="1E293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defRPr>
            </a:pPr>
            <a:r>
              <a:t>Academic Capstone Project • IIT Patna • Version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